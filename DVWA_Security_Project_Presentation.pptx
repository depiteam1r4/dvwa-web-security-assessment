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10"/>
  </p:normalViewPr>
  <p:slideViewPr>
    <p:cSldViewPr snapToGrid="0" snapToObjects="1">
      <p:cViewPr varScale="1">
        <p:scale>
          <a:sx n="109" d="100"/>
          <a:sy n="109" d="100"/>
        </p:scale>
        <p:origin x="643"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1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project as a cybersecurity study built under the Digital Egypt Pioneers Initiative (DEPI), focused on practical, hands-on exploration of common web application vulnerabilities using DVWA in a safe, isolated lab environment. Briefly mention this is a technical walkthrough, not just theory.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six team members collectively as the group responsible for building and presenting this project. No need to assign individual topics here — simply acknowledge the team as a whole.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four-part structure of the presentation: an overview of DVWA, its security levels and how we approached the demonstrations, the main vulnerability walkthrough covering 18 categories, and finally the lessons learned and conclusion.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DVWA clearly: an intentionally vulnerable PHP/MySQL application used purely for education. Emphasize the three pillars — it's educational, meant for isolated lab use only, and mirrors real OWASP-class risks.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practical motivations: DVWA turns theory into practice, offers adjustable difficulty, is legally safe to attack, covers a wide range of vulnerability classes, is an industry-recognized teaching tool, and is easily reset for repeated practice.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three-tier architecture: browser sends requests to the PHP/Apache web server, which queries a MySQL database. Mention that the configurable security levels live inside the PHP application layer.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DVWA difficulty levels: Low has no protection at all, Medium adds basic but bypassable filtering, High applies much stronger validation, and Impossible represents fully secure, best-practice code. This progression is what lets us visually compare weak vs. strong defenses for the same vulnerability.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full set of 18 vulnerability categories we will walk through, in the exact order shown. Note that each will cover a definition, why it's dangerous, real-world impact, and prevention — no live exploitation or attack payloads will be demonstrated.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Brute Force: Attackers systematically try many username and password combinations until a valid credential pair is found. Emphasize why it's dangerous (Login forms with no attempt limits let weak or default credentials be guessed given enough time.) and the real-world impact (Account takeover, exposure of sensitive data, and large-scale credential stuffing attacks.). Close by covering prevention: Account lockout &amp; rate limiting; Strong password policies; Multi-factor authentication (MFA).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XSS (Reflected): Malicious script is injected via a URL or input field and immediately reflected back into the page by the server. Emphasize why it's dangerous (The victim's browser executes the injected script as if it were part of the trusted site.) and the real-world impact (Session hijacking, credential theft, page defacement, or redirection to malicious sites.). Close by covering prevention: Output encoding on every response; Strict input validation; Content-Security-Policy headers.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SQL Injection: Untrusted input is inserted into a database query, altering its intended logic without proper sanitization. Emphasize why it's dangerous (Attackers can manipulate queries to read, modify, or delete data directly from the backend.) and the real-world impact (Full data breaches, authentication bypass, and permanent data loss or corruption.). Close by covering prevention: Parameterized queries / prepared statements; Least-privilege database accounts; Strict input validation.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CSP Bypass: Techniques that circumvent a Content-Security-Policy intended to restrict which scripts a page may run. Emphasize why it's dangerous (A weak or overly permissive policy creates a false sense of security while offering little real protection.) and the real-world impact (XSS payloads execute despite CSP being enabled, defeating a key browser-level defense.). Close by covering prevention: Strict nonce- or hash-based CSP; Avoid 'unsafe-inline' / 'unsafe-eval'; Regular policy audits.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XSS (DOM): Client-side JavaScript writes untrusted data into the page's DOM, triggering script execution without server involvement. Emphasize why it's dangerous (The flaw lives entirely in client-side code, often bypassing server-side security filters.) and the real-world impact (Same consequences as other XSS types: session theft, phishing, and malicious redirects.). Close by covering prevention: Use safe DOM APIs (textContent, not innerHTML); Sanitize data before rendering; Client-side CSP enforcement.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SQL Injection (Blind): A form of SQL injection where results aren't shown directly; the attacker infers data from application behavior. Emphasize why it's dangerous (No visible errors or data make this variant harder to detect through casual observation.) and the real-world impact (Slow but complete extraction of sensitive database contents over many requests.). Close by covering prevention: Parameterized queries; Generic, non-descriptive error messages; Query timeouts &amp; anomaly monitoring.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JavaScript Security: Weaknesses that arise when critical security logic is implemented only in client-side JavaScript. Emphasize why it's dangerous (Client-side code can be viewed, altered, or bypassed entirely by anyone using the browser's tools.) and the real-world impact (Business-logic bypass and exposure of hidden functionality or secrets embedded in scripts.). Close by covering prevention: Never trust client-side validation alone; Re-enforce every check server-side; Avoid embedding secrets in JS.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XSS (Stored): Malicious script is saved on the server, for example in a comment or profile field, and served to every visitor. Emphasize why it's dangerous (Every user who views the affected page automatically executes the attacker's script.) and the real-world impact (Mass account compromise and persistent, site-wide exposure that spreads with normal browsing.). Close by covering prevention: Sanitize input on save and output on render; Escape stored HTML; Content-Security-Policy.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Command Injection: Untrusted input reaches a system shell command, allowing execution of arbitrary operating-system commands. Emphasize why it's dangerous (Grants the attacker direct interaction with the underlying server operating system.) and the real-world impact (Full server compromise, data destruction, and lateral movement into internal networks.). Close by covering prevention: Avoid shell calls built from user input; Use safe APIs and allow-lists; Sandbox execution environments.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Insecure CAPTCHA: A CAPTCHA implementation that can be bypassed or is not properly validated on the server side. Emphasize why it's dangerous (Automated bots defeat the exact control meant to distinguish humans from scripts.) and the real-world impact (Enables automated brute force attacks, spam submissions, and mass fake account creation.). Close by covering prevention: Always validate responses server-side; Use modern, robust CAPTCHA services; Pair with rate limiting.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CSRF: A victim's authenticated browser is tricked into submitting an unwanted request to a trusted site. Emphasize why it's dangerous (The forged request appears legitimate because it carries the victim's own session cookies.) and the real-world impact (Unauthorized fund transfers, password changes, or data modification without user consent.). Close by covering prevention: Anti-CSRF tokens on state-changing requests; SameSite cookie attribute; Re-authentication for sensitive actions.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File Upload: An upload feature accepts files without adequately validating their type, content, or destination. Emphasize why it's dangerous (Attackers can disguise executable scripts as legitimate files to bypass weak checks.) and the real-world impact (Remote code execution, web shell deployment, and full server takeover.). Close by covering prevention: Strict file-type &amp; content validation; Store uploads outside the webroot; Disable execution in upload directories.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Weak Session IDs: Session identifiers that are predictable, too short, or generated with poor randomness. Emphasize why it's dangerous (Predictable tokens allow attackers to guess or brute-force valid, active sessions.) and the real-world impact (Session hijacking and full account impersonation without ever needing real credentials.). Close by covering prevention: Cryptographically random, long session IDs; Secure &amp; HttpOnly cookie flags; Session expiration and rotation.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File Inclusion: An application dynamically includes files based on user input without properly validating the source. Emphasize why it's dangerous (Local or remote files, including malicious ones, can be loaded and executed by the server.) and the real-world impact (Source code disclosure, remote code execution, and full server compromise.). Close by covering prevention: Allow-list permitted files only; Never pass raw user input to include functions; Disable remote file inclusion.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Authorization Bypass: An application fails to properly verify that a user is permitted to access a specific resource or action. Emphasize why it's dangerous (Access checks are missing, inconsistent, or rely only on hiding UI elements from the user.) and the real-world impact (Privilege escalation, exposure of other users' data (IDOR), and unauthorized admin access.). Close by covering prevention: Enforce server-side checks on every request; Deny-by-default access model; Consistent authorization across all endpoints.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Open HTTP Redirect: An application redirects users to a URL supplied via input, without validating the destination. Emphasize why it's dangerous (The trusted domain name lends false legitimacy to a link that actually leads elsewhere.) and the real-world impact (An effective phishing platform for credential theft and malware delivery via a trusted brand.). Close by covering prevention: Validate redirects against an allow-list; Prefer relative internal paths; Warn users before external redirects.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Cryptography: Weaknesses in how an application encrypts, hashes, or stores sensitive data. Emphasize why it's dangerous (Weak algorithms, hardcoded keys, or unsalted hashes fail to protect data even when 'encrypted.') and the real-world impact (Exposure of passwords, personal data, and secrets if the database is ever breached.). Close by covering prevention: Modern password hashing (bcrypt / Argon2); Always salt hashed data; Proper key management practices.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API Security: Weaknesses in how APIs authenticate, authorize, and validate requests coming from clients. Emphasize why it's dangerous (APIs often expose more functionality and data than the UI does, widening the attack surface.) and the real-world impact (Large-scale data exposure, broken object-level authorization, and abuse of unthrottled endpoints.). Close by covering prevention: Strong per-endpoint authentication &amp; authorization; Rigorous input validation; Rate limiting &amp; API gateways. Keep the discussion at the concept level — no live payloads or step-by-step exploitation.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recurring themes across all 18 vulnerabilities: never trust user input, apply defense in depth, design secure by default, treat code quality as a security control, share responsibility across the team, and value hands-on practice for building real intuition.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concise summary: the project covered 18 vulnerability categories across 4 security levels within a 3-tier architecture, entirely in a legal, isolated lab. Leave the audience with the core message: understanding attacks is the foundation of building resistant software.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Be ready to expand on any vulnerability category, the security-level comparisons, or the secure development practices covered in the lessons-learned section.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1.png"/><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2.png"/><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4.png"/><Relationship Id="rId7"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5.png"/><Relationship Id="rId7"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6.png"/><Relationship Id="rId7"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7.png"/><Relationship Id="rId7"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8.png"/><Relationship Id="rId7"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9.png"/><Relationship Id="rId7"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0.png"/><Relationship Id="rId7"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3.png"/><Relationship Id="rId7"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2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1.png"/><Relationship Id="rId7"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2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2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2.png"/><Relationship Id="rId7"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0.png"/></Relationships>
</file>

<file path=ppt/slides/_rels/slide2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5486400" y="-2011680"/>
            <a:ext cx="4754880" cy="4754880"/>
          </a:xfrm>
          <a:prstGeom prst="ellipse">
            <a:avLst/>
          </a:prstGeom>
          <a:solidFill>
            <a:srgbClr val="22D3EE">
              <a:alpha val="12000"/>
            </a:srgbClr>
          </a:solidFill>
          <a:ln/>
        </p:spPr>
        <p:txBody>
          <a:bodyPr/>
          <a:lstStyle/>
          <a:p>
            <a:endParaRPr lang="en-GB"/>
          </a:p>
        </p:txBody>
      </p:sp>
      <p:sp>
        <p:nvSpPr>
          <p:cNvPr id="3" name="Shape 1"/>
          <p:cNvSpPr/>
          <p:nvPr/>
        </p:nvSpPr>
        <p:spPr>
          <a:xfrm>
            <a:off x="6556248" y="-941832"/>
            <a:ext cx="2615184" cy="2615184"/>
          </a:xfrm>
          <a:prstGeom prst="ellipse">
            <a:avLst/>
          </a:prstGeom>
          <a:solidFill>
            <a:srgbClr val="22D3EE">
              <a:alpha val="18000"/>
            </a:srgbClr>
          </a:solidFill>
          <a:ln/>
        </p:spPr>
        <p:txBody>
          <a:bodyPr/>
          <a:lstStyle/>
          <a:p>
            <a:endParaRPr lang="en-GB"/>
          </a:p>
        </p:txBody>
      </p:sp>
      <p:sp>
        <p:nvSpPr>
          <p:cNvPr id="4" name="Shape 2"/>
          <p:cNvSpPr/>
          <p:nvPr/>
        </p:nvSpPr>
        <p:spPr>
          <a:xfrm>
            <a:off x="-1280160" y="3108960"/>
            <a:ext cx="3657600" cy="3657600"/>
          </a:xfrm>
          <a:prstGeom prst="ellipse">
            <a:avLst/>
          </a:prstGeom>
          <a:solidFill>
            <a:srgbClr val="0E7490">
              <a:alpha val="12000"/>
            </a:srgbClr>
          </a:solidFill>
          <a:ln/>
        </p:spPr>
        <p:txBody>
          <a:bodyPr/>
          <a:lstStyle/>
          <a:p>
            <a:endParaRPr lang="en-GB"/>
          </a:p>
        </p:txBody>
      </p:sp>
      <p:sp>
        <p:nvSpPr>
          <p:cNvPr id="5" name="Shape 3"/>
          <p:cNvSpPr/>
          <p:nvPr/>
        </p:nvSpPr>
        <p:spPr>
          <a:xfrm>
            <a:off x="-457200" y="3931920"/>
            <a:ext cx="2011680" cy="2011680"/>
          </a:xfrm>
          <a:prstGeom prst="ellipse">
            <a:avLst/>
          </a:prstGeom>
          <a:solidFill>
            <a:srgbClr val="0E7490">
              <a:alpha val="18000"/>
            </a:srgbClr>
          </a:solidFill>
          <a:ln/>
        </p:spPr>
        <p:txBody>
          <a:bodyPr/>
          <a:lstStyle/>
          <a:p>
            <a:endParaRPr lang="en-GB"/>
          </a:p>
        </p:txBody>
      </p:sp>
      <p:sp>
        <p:nvSpPr>
          <p:cNvPr id="6" name="Shape 4"/>
          <p:cNvSpPr/>
          <p:nvPr/>
        </p:nvSpPr>
        <p:spPr>
          <a:xfrm>
            <a:off x="6949440" y="3566160"/>
            <a:ext cx="32004" cy="32004"/>
          </a:xfrm>
          <a:prstGeom prst="ellipse">
            <a:avLst/>
          </a:prstGeom>
          <a:solidFill>
            <a:srgbClr val="22D3EE">
              <a:alpha val="45000"/>
            </a:srgbClr>
          </a:solidFill>
          <a:ln/>
        </p:spPr>
        <p:txBody>
          <a:bodyPr/>
          <a:lstStyle/>
          <a:p>
            <a:endParaRPr lang="en-GB"/>
          </a:p>
        </p:txBody>
      </p:sp>
      <p:sp>
        <p:nvSpPr>
          <p:cNvPr id="7" name="Shape 5"/>
          <p:cNvSpPr/>
          <p:nvPr/>
        </p:nvSpPr>
        <p:spPr>
          <a:xfrm>
            <a:off x="6949440" y="3739896"/>
            <a:ext cx="32004" cy="32004"/>
          </a:xfrm>
          <a:prstGeom prst="ellipse">
            <a:avLst/>
          </a:prstGeom>
          <a:solidFill>
            <a:srgbClr val="22D3EE">
              <a:alpha val="45000"/>
            </a:srgbClr>
          </a:solidFill>
          <a:ln/>
        </p:spPr>
        <p:txBody>
          <a:bodyPr/>
          <a:lstStyle/>
          <a:p>
            <a:endParaRPr lang="en-GB"/>
          </a:p>
        </p:txBody>
      </p:sp>
      <p:sp>
        <p:nvSpPr>
          <p:cNvPr id="8" name="Shape 6"/>
          <p:cNvSpPr/>
          <p:nvPr/>
        </p:nvSpPr>
        <p:spPr>
          <a:xfrm>
            <a:off x="6949440" y="3913632"/>
            <a:ext cx="32004" cy="32004"/>
          </a:xfrm>
          <a:prstGeom prst="ellipse">
            <a:avLst/>
          </a:prstGeom>
          <a:solidFill>
            <a:srgbClr val="22D3EE">
              <a:alpha val="45000"/>
            </a:srgbClr>
          </a:solidFill>
          <a:ln/>
        </p:spPr>
        <p:txBody>
          <a:bodyPr/>
          <a:lstStyle/>
          <a:p>
            <a:endParaRPr lang="en-GB"/>
          </a:p>
        </p:txBody>
      </p:sp>
      <p:sp>
        <p:nvSpPr>
          <p:cNvPr id="9" name="Shape 7"/>
          <p:cNvSpPr/>
          <p:nvPr/>
        </p:nvSpPr>
        <p:spPr>
          <a:xfrm>
            <a:off x="6949440" y="4087368"/>
            <a:ext cx="32004" cy="32004"/>
          </a:xfrm>
          <a:prstGeom prst="ellipse">
            <a:avLst/>
          </a:prstGeom>
          <a:solidFill>
            <a:srgbClr val="22D3EE">
              <a:alpha val="45000"/>
            </a:srgbClr>
          </a:solidFill>
          <a:ln/>
        </p:spPr>
        <p:txBody>
          <a:bodyPr/>
          <a:lstStyle/>
          <a:p>
            <a:endParaRPr lang="en-GB"/>
          </a:p>
        </p:txBody>
      </p:sp>
      <p:sp>
        <p:nvSpPr>
          <p:cNvPr id="10" name="Shape 8"/>
          <p:cNvSpPr/>
          <p:nvPr/>
        </p:nvSpPr>
        <p:spPr>
          <a:xfrm>
            <a:off x="6949440" y="4261104"/>
            <a:ext cx="32004" cy="32004"/>
          </a:xfrm>
          <a:prstGeom prst="ellipse">
            <a:avLst/>
          </a:prstGeom>
          <a:solidFill>
            <a:srgbClr val="22D3EE">
              <a:alpha val="45000"/>
            </a:srgbClr>
          </a:solidFill>
          <a:ln/>
        </p:spPr>
        <p:txBody>
          <a:bodyPr/>
          <a:lstStyle/>
          <a:p>
            <a:endParaRPr lang="en-GB"/>
          </a:p>
        </p:txBody>
      </p:sp>
      <p:sp>
        <p:nvSpPr>
          <p:cNvPr id="11" name="Shape 9"/>
          <p:cNvSpPr/>
          <p:nvPr/>
        </p:nvSpPr>
        <p:spPr>
          <a:xfrm>
            <a:off x="7123176" y="3566160"/>
            <a:ext cx="32004" cy="32004"/>
          </a:xfrm>
          <a:prstGeom prst="ellipse">
            <a:avLst/>
          </a:prstGeom>
          <a:solidFill>
            <a:srgbClr val="22D3EE">
              <a:alpha val="45000"/>
            </a:srgbClr>
          </a:solidFill>
          <a:ln/>
        </p:spPr>
        <p:txBody>
          <a:bodyPr/>
          <a:lstStyle/>
          <a:p>
            <a:endParaRPr lang="en-GB"/>
          </a:p>
        </p:txBody>
      </p:sp>
      <p:sp>
        <p:nvSpPr>
          <p:cNvPr id="12" name="Shape 10"/>
          <p:cNvSpPr/>
          <p:nvPr/>
        </p:nvSpPr>
        <p:spPr>
          <a:xfrm>
            <a:off x="7123176" y="3739896"/>
            <a:ext cx="32004" cy="32004"/>
          </a:xfrm>
          <a:prstGeom prst="ellipse">
            <a:avLst/>
          </a:prstGeom>
          <a:solidFill>
            <a:srgbClr val="22D3EE">
              <a:alpha val="45000"/>
            </a:srgbClr>
          </a:solidFill>
          <a:ln/>
        </p:spPr>
        <p:txBody>
          <a:bodyPr/>
          <a:lstStyle/>
          <a:p>
            <a:endParaRPr lang="en-GB"/>
          </a:p>
        </p:txBody>
      </p:sp>
      <p:sp>
        <p:nvSpPr>
          <p:cNvPr id="13" name="Shape 11"/>
          <p:cNvSpPr/>
          <p:nvPr/>
        </p:nvSpPr>
        <p:spPr>
          <a:xfrm>
            <a:off x="7123176" y="3913632"/>
            <a:ext cx="32004" cy="32004"/>
          </a:xfrm>
          <a:prstGeom prst="ellipse">
            <a:avLst/>
          </a:prstGeom>
          <a:solidFill>
            <a:srgbClr val="22D3EE">
              <a:alpha val="45000"/>
            </a:srgbClr>
          </a:solidFill>
          <a:ln/>
        </p:spPr>
        <p:txBody>
          <a:bodyPr/>
          <a:lstStyle/>
          <a:p>
            <a:endParaRPr lang="en-GB"/>
          </a:p>
        </p:txBody>
      </p:sp>
      <p:sp>
        <p:nvSpPr>
          <p:cNvPr id="14" name="Shape 12"/>
          <p:cNvSpPr/>
          <p:nvPr/>
        </p:nvSpPr>
        <p:spPr>
          <a:xfrm>
            <a:off x="7123176" y="4087368"/>
            <a:ext cx="32004" cy="32004"/>
          </a:xfrm>
          <a:prstGeom prst="ellipse">
            <a:avLst/>
          </a:prstGeom>
          <a:solidFill>
            <a:srgbClr val="22D3EE">
              <a:alpha val="45000"/>
            </a:srgbClr>
          </a:solidFill>
          <a:ln/>
        </p:spPr>
        <p:txBody>
          <a:bodyPr/>
          <a:lstStyle/>
          <a:p>
            <a:endParaRPr lang="en-GB"/>
          </a:p>
        </p:txBody>
      </p:sp>
      <p:sp>
        <p:nvSpPr>
          <p:cNvPr id="15" name="Shape 13"/>
          <p:cNvSpPr/>
          <p:nvPr/>
        </p:nvSpPr>
        <p:spPr>
          <a:xfrm>
            <a:off x="7123176" y="4261104"/>
            <a:ext cx="32004" cy="32004"/>
          </a:xfrm>
          <a:prstGeom prst="ellipse">
            <a:avLst/>
          </a:prstGeom>
          <a:solidFill>
            <a:srgbClr val="22D3EE">
              <a:alpha val="45000"/>
            </a:srgbClr>
          </a:solidFill>
          <a:ln/>
        </p:spPr>
        <p:txBody>
          <a:bodyPr/>
          <a:lstStyle/>
          <a:p>
            <a:endParaRPr lang="en-GB"/>
          </a:p>
        </p:txBody>
      </p:sp>
      <p:sp>
        <p:nvSpPr>
          <p:cNvPr id="16" name="Shape 14"/>
          <p:cNvSpPr/>
          <p:nvPr/>
        </p:nvSpPr>
        <p:spPr>
          <a:xfrm>
            <a:off x="7296912" y="3566160"/>
            <a:ext cx="32004" cy="32004"/>
          </a:xfrm>
          <a:prstGeom prst="ellipse">
            <a:avLst/>
          </a:prstGeom>
          <a:solidFill>
            <a:srgbClr val="22D3EE">
              <a:alpha val="45000"/>
            </a:srgbClr>
          </a:solidFill>
          <a:ln/>
        </p:spPr>
        <p:txBody>
          <a:bodyPr/>
          <a:lstStyle/>
          <a:p>
            <a:endParaRPr lang="en-GB"/>
          </a:p>
        </p:txBody>
      </p:sp>
      <p:sp>
        <p:nvSpPr>
          <p:cNvPr id="17" name="Shape 15"/>
          <p:cNvSpPr/>
          <p:nvPr/>
        </p:nvSpPr>
        <p:spPr>
          <a:xfrm>
            <a:off x="7296912" y="3739896"/>
            <a:ext cx="32004" cy="32004"/>
          </a:xfrm>
          <a:prstGeom prst="ellipse">
            <a:avLst/>
          </a:prstGeom>
          <a:solidFill>
            <a:srgbClr val="22D3EE">
              <a:alpha val="45000"/>
            </a:srgbClr>
          </a:solidFill>
          <a:ln/>
        </p:spPr>
        <p:txBody>
          <a:bodyPr/>
          <a:lstStyle/>
          <a:p>
            <a:endParaRPr lang="en-GB"/>
          </a:p>
        </p:txBody>
      </p:sp>
      <p:sp>
        <p:nvSpPr>
          <p:cNvPr id="18" name="Shape 16"/>
          <p:cNvSpPr/>
          <p:nvPr/>
        </p:nvSpPr>
        <p:spPr>
          <a:xfrm>
            <a:off x="7296912" y="3913632"/>
            <a:ext cx="32004" cy="32004"/>
          </a:xfrm>
          <a:prstGeom prst="ellipse">
            <a:avLst/>
          </a:prstGeom>
          <a:solidFill>
            <a:srgbClr val="22D3EE">
              <a:alpha val="45000"/>
            </a:srgbClr>
          </a:solidFill>
          <a:ln/>
        </p:spPr>
        <p:txBody>
          <a:bodyPr/>
          <a:lstStyle/>
          <a:p>
            <a:endParaRPr lang="en-GB"/>
          </a:p>
        </p:txBody>
      </p:sp>
      <p:sp>
        <p:nvSpPr>
          <p:cNvPr id="19" name="Shape 17"/>
          <p:cNvSpPr/>
          <p:nvPr/>
        </p:nvSpPr>
        <p:spPr>
          <a:xfrm>
            <a:off x="7296912" y="4087368"/>
            <a:ext cx="32004" cy="32004"/>
          </a:xfrm>
          <a:prstGeom prst="ellipse">
            <a:avLst/>
          </a:prstGeom>
          <a:solidFill>
            <a:srgbClr val="22D3EE">
              <a:alpha val="45000"/>
            </a:srgbClr>
          </a:solidFill>
          <a:ln/>
        </p:spPr>
        <p:txBody>
          <a:bodyPr/>
          <a:lstStyle/>
          <a:p>
            <a:endParaRPr lang="en-GB"/>
          </a:p>
        </p:txBody>
      </p:sp>
      <p:sp>
        <p:nvSpPr>
          <p:cNvPr id="20" name="Shape 18"/>
          <p:cNvSpPr/>
          <p:nvPr/>
        </p:nvSpPr>
        <p:spPr>
          <a:xfrm>
            <a:off x="7296912" y="4261104"/>
            <a:ext cx="32004" cy="32004"/>
          </a:xfrm>
          <a:prstGeom prst="ellipse">
            <a:avLst/>
          </a:prstGeom>
          <a:solidFill>
            <a:srgbClr val="22D3EE">
              <a:alpha val="45000"/>
            </a:srgbClr>
          </a:solidFill>
          <a:ln/>
        </p:spPr>
        <p:txBody>
          <a:bodyPr/>
          <a:lstStyle/>
          <a:p>
            <a:endParaRPr lang="en-GB"/>
          </a:p>
        </p:txBody>
      </p:sp>
      <p:sp>
        <p:nvSpPr>
          <p:cNvPr id="21" name="Shape 19"/>
          <p:cNvSpPr/>
          <p:nvPr/>
        </p:nvSpPr>
        <p:spPr>
          <a:xfrm>
            <a:off x="7470648" y="3566160"/>
            <a:ext cx="32004" cy="32004"/>
          </a:xfrm>
          <a:prstGeom prst="ellipse">
            <a:avLst/>
          </a:prstGeom>
          <a:solidFill>
            <a:srgbClr val="22D3EE">
              <a:alpha val="45000"/>
            </a:srgbClr>
          </a:solidFill>
          <a:ln/>
        </p:spPr>
        <p:txBody>
          <a:bodyPr/>
          <a:lstStyle/>
          <a:p>
            <a:endParaRPr lang="en-GB"/>
          </a:p>
        </p:txBody>
      </p:sp>
      <p:sp>
        <p:nvSpPr>
          <p:cNvPr id="22" name="Shape 20"/>
          <p:cNvSpPr/>
          <p:nvPr/>
        </p:nvSpPr>
        <p:spPr>
          <a:xfrm>
            <a:off x="7470648" y="3739896"/>
            <a:ext cx="32004" cy="32004"/>
          </a:xfrm>
          <a:prstGeom prst="ellipse">
            <a:avLst/>
          </a:prstGeom>
          <a:solidFill>
            <a:srgbClr val="22D3EE">
              <a:alpha val="45000"/>
            </a:srgbClr>
          </a:solidFill>
          <a:ln/>
        </p:spPr>
        <p:txBody>
          <a:bodyPr/>
          <a:lstStyle/>
          <a:p>
            <a:endParaRPr lang="en-GB"/>
          </a:p>
        </p:txBody>
      </p:sp>
      <p:sp>
        <p:nvSpPr>
          <p:cNvPr id="23" name="Shape 21"/>
          <p:cNvSpPr/>
          <p:nvPr/>
        </p:nvSpPr>
        <p:spPr>
          <a:xfrm>
            <a:off x="7470648" y="3913632"/>
            <a:ext cx="32004" cy="32004"/>
          </a:xfrm>
          <a:prstGeom prst="ellipse">
            <a:avLst/>
          </a:prstGeom>
          <a:solidFill>
            <a:srgbClr val="22D3EE">
              <a:alpha val="45000"/>
            </a:srgbClr>
          </a:solidFill>
          <a:ln/>
        </p:spPr>
        <p:txBody>
          <a:bodyPr/>
          <a:lstStyle/>
          <a:p>
            <a:endParaRPr lang="en-GB"/>
          </a:p>
        </p:txBody>
      </p:sp>
      <p:sp>
        <p:nvSpPr>
          <p:cNvPr id="24" name="Shape 22"/>
          <p:cNvSpPr/>
          <p:nvPr/>
        </p:nvSpPr>
        <p:spPr>
          <a:xfrm>
            <a:off x="7470648" y="4087368"/>
            <a:ext cx="32004" cy="32004"/>
          </a:xfrm>
          <a:prstGeom prst="ellipse">
            <a:avLst/>
          </a:prstGeom>
          <a:solidFill>
            <a:srgbClr val="22D3EE">
              <a:alpha val="45000"/>
            </a:srgbClr>
          </a:solidFill>
          <a:ln/>
        </p:spPr>
        <p:txBody>
          <a:bodyPr/>
          <a:lstStyle/>
          <a:p>
            <a:endParaRPr lang="en-GB"/>
          </a:p>
        </p:txBody>
      </p:sp>
      <p:sp>
        <p:nvSpPr>
          <p:cNvPr id="25" name="Shape 23"/>
          <p:cNvSpPr/>
          <p:nvPr/>
        </p:nvSpPr>
        <p:spPr>
          <a:xfrm>
            <a:off x="7470648" y="4261104"/>
            <a:ext cx="32004" cy="32004"/>
          </a:xfrm>
          <a:prstGeom prst="ellipse">
            <a:avLst/>
          </a:prstGeom>
          <a:solidFill>
            <a:srgbClr val="22D3EE">
              <a:alpha val="45000"/>
            </a:srgbClr>
          </a:solidFill>
          <a:ln/>
        </p:spPr>
        <p:txBody>
          <a:bodyPr/>
          <a:lstStyle/>
          <a:p>
            <a:endParaRPr lang="en-GB"/>
          </a:p>
        </p:txBody>
      </p:sp>
      <p:sp>
        <p:nvSpPr>
          <p:cNvPr id="26" name="Shape 24"/>
          <p:cNvSpPr/>
          <p:nvPr/>
        </p:nvSpPr>
        <p:spPr>
          <a:xfrm>
            <a:off x="7644384" y="3566160"/>
            <a:ext cx="32004" cy="32004"/>
          </a:xfrm>
          <a:prstGeom prst="ellipse">
            <a:avLst/>
          </a:prstGeom>
          <a:solidFill>
            <a:srgbClr val="22D3EE">
              <a:alpha val="45000"/>
            </a:srgbClr>
          </a:solidFill>
          <a:ln/>
        </p:spPr>
        <p:txBody>
          <a:bodyPr/>
          <a:lstStyle/>
          <a:p>
            <a:endParaRPr lang="en-GB"/>
          </a:p>
        </p:txBody>
      </p:sp>
      <p:sp>
        <p:nvSpPr>
          <p:cNvPr id="27" name="Shape 25"/>
          <p:cNvSpPr/>
          <p:nvPr/>
        </p:nvSpPr>
        <p:spPr>
          <a:xfrm>
            <a:off x="7644384" y="3739896"/>
            <a:ext cx="32004" cy="32004"/>
          </a:xfrm>
          <a:prstGeom prst="ellipse">
            <a:avLst/>
          </a:prstGeom>
          <a:solidFill>
            <a:srgbClr val="22D3EE">
              <a:alpha val="45000"/>
            </a:srgbClr>
          </a:solidFill>
          <a:ln/>
        </p:spPr>
        <p:txBody>
          <a:bodyPr/>
          <a:lstStyle/>
          <a:p>
            <a:endParaRPr lang="en-GB"/>
          </a:p>
        </p:txBody>
      </p:sp>
      <p:sp>
        <p:nvSpPr>
          <p:cNvPr id="28" name="Shape 26"/>
          <p:cNvSpPr/>
          <p:nvPr/>
        </p:nvSpPr>
        <p:spPr>
          <a:xfrm>
            <a:off x="7644384" y="3913632"/>
            <a:ext cx="32004" cy="32004"/>
          </a:xfrm>
          <a:prstGeom prst="ellipse">
            <a:avLst/>
          </a:prstGeom>
          <a:solidFill>
            <a:srgbClr val="22D3EE">
              <a:alpha val="45000"/>
            </a:srgbClr>
          </a:solidFill>
          <a:ln/>
        </p:spPr>
        <p:txBody>
          <a:bodyPr/>
          <a:lstStyle/>
          <a:p>
            <a:endParaRPr lang="en-GB"/>
          </a:p>
        </p:txBody>
      </p:sp>
      <p:sp>
        <p:nvSpPr>
          <p:cNvPr id="29" name="Shape 27"/>
          <p:cNvSpPr/>
          <p:nvPr/>
        </p:nvSpPr>
        <p:spPr>
          <a:xfrm>
            <a:off x="7644384" y="4087368"/>
            <a:ext cx="32004" cy="32004"/>
          </a:xfrm>
          <a:prstGeom prst="ellipse">
            <a:avLst/>
          </a:prstGeom>
          <a:solidFill>
            <a:srgbClr val="22D3EE">
              <a:alpha val="45000"/>
            </a:srgbClr>
          </a:solidFill>
          <a:ln/>
        </p:spPr>
        <p:txBody>
          <a:bodyPr/>
          <a:lstStyle/>
          <a:p>
            <a:endParaRPr lang="en-GB"/>
          </a:p>
        </p:txBody>
      </p:sp>
      <p:sp>
        <p:nvSpPr>
          <p:cNvPr id="30" name="Shape 28"/>
          <p:cNvSpPr/>
          <p:nvPr/>
        </p:nvSpPr>
        <p:spPr>
          <a:xfrm>
            <a:off x="7644384" y="4261104"/>
            <a:ext cx="32004" cy="32004"/>
          </a:xfrm>
          <a:prstGeom prst="ellipse">
            <a:avLst/>
          </a:prstGeom>
          <a:solidFill>
            <a:srgbClr val="22D3EE">
              <a:alpha val="45000"/>
            </a:srgbClr>
          </a:solidFill>
          <a:ln/>
        </p:spPr>
        <p:txBody>
          <a:bodyPr/>
          <a:lstStyle/>
          <a:p>
            <a:endParaRPr lang="en-GB"/>
          </a:p>
        </p:txBody>
      </p:sp>
      <p:sp>
        <p:nvSpPr>
          <p:cNvPr id="31" name="Shape 29"/>
          <p:cNvSpPr/>
          <p:nvPr/>
        </p:nvSpPr>
        <p:spPr>
          <a:xfrm>
            <a:off x="7818120" y="3566160"/>
            <a:ext cx="32004" cy="32004"/>
          </a:xfrm>
          <a:prstGeom prst="ellipse">
            <a:avLst/>
          </a:prstGeom>
          <a:solidFill>
            <a:srgbClr val="22D3EE">
              <a:alpha val="45000"/>
            </a:srgbClr>
          </a:solidFill>
          <a:ln/>
        </p:spPr>
        <p:txBody>
          <a:bodyPr/>
          <a:lstStyle/>
          <a:p>
            <a:endParaRPr lang="en-GB"/>
          </a:p>
        </p:txBody>
      </p:sp>
      <p:sp>
        <p:nvSpPr>
          <p:cNvPr id="32" name="Shape 30"/>
          <p:cNvSpPr/>
          <p:nvPr/>
        </p:nvSpPr>
        <p:spPr>
          <a:xfrm>
            <a:off x="7818120" y="3739896"/>
            <a:ext cx="32004" cy="32004"/>
          </a:xfrm>
          <a:prstGeom prst="ellipse">
            <a:avLst/>
          </a:prstGeom>
          <a:solidFill>
            <a:srgbClr val="22D3EE">
              <a:alpha val="45000"/>
            </a:srgbClr>
          </a:solidFill>
          <a:ln/>
        </p:spPr>
        <p:txBody>
          <a:bodyPr/>
          <a:lstStyle/>
          <a:p>
            <a:endParaRPr lang="en-GB"/>
          </a:p>
        </p:txBody>
      </p:sp>
      <p:sp>
        <p:nvSpPr>
          <p:cNvPr id="33" name="Shape 31"/>
          <p:cNvSpPr/>
          <p:nvPr/>
        </p:nvSpPr>
        <p:spPr>
          <a:xfrm>
            <a:off x="7818120" y="3913632"/>
            <a:ext cx="32004" cy="32004"/>
          </a:xfrm>
          <a:prstGeom prst="ellipse">
            <a:avLst/>
          </a:prstGeom>
          <a:solidFill>
            <a:srgbClr val="22D3EE">
              <a:alpha val="45000"/>
            </a:srgbClr>
          </a:solidFill>
          <a:ln/>
        </p:spPr>
        <p:txBody>
          <a:bodyPr/>
          <a:lstStyle/>
          <a:p>
            <a:endParaRPr lang="en-GB"/>
          </a:p>
        </p:txBody>
      </p:sp>
      <p:sp>
        <p:nvSpPr>
          <p:cNvPr id="34" name="Shape 32"/>
          <p:cNvSpPr/>
          <p:nvPr/>
        </p:nvSpPr>
        <p:spPr>
          <a:xfrm>
            <a:off x="7818120" y="4087368"/>
            <a:ext cx="32004" cy="32004"/>
          </a:xfrm>
          <a:prstGeom prst="ellipse">
            <a:avLst/>
          </a:prstGeom>
          <a:solidFill>
            <a:srgbClr val="22D3EE">
              <a:alpha val="45000"/>
            </a:srgbClr>
          </a:solidFill>
          <a:ln/>
        </p:spPr>
        <p:txBody>
          <a:bodyPr/>
          <a:lstStyle/>
          <a:p>
            <a:endParaRPr lang="en-GB"/>
          </a:p>
        </p:txBody>
      </p:sp>
      <p:sp>
        <p:nvSpPr>
          <p:cNvPr id="35" name="Shape 33"/>
          <p:cNvSpPr/>
          <p:nvPr/>
        </p:nvSpPr>
        <p:spPr>
          <a:xfrm>
            <a:off x="7818120" y="4261104"/>
            <a:ext cx="32004" cy="32004"/>
          </a:xfrm>
          <a:prstGeom prst="ellipse">
            <a:avLst/>
          </a:prstGeom>
          <a:solidFill>
            <a:srgbClr val="22D3EE">
              <a:alpha val="45000"/>
            </a:srgbClr>
          </a:solidFill>
          <a:ln/>
        </p:spPr>
        <p:txBody>
          <a:bodyPr/>
          <a:lstStyle/>
          <a:p>
            <a:endParaRPr lang="en-GB"/>
          </a:p>
        </p:txBody>
      </p:sp>
      <p:sp>
        <p:nvSpPr>
          <p:cNvPr id="36" name="Shape 34"/>
          <p:cNvSpPr/>
          <p:nvPr/>
        </p:nvSpPr>
        <p:spPr>
          <a:xfrm>
            <a:off x="7991856" y="3566160"/>
            <a:ext cx="32004" cy="32004"/>
          </a:xfrm>
          <a:prstGeom prst="ellipse">
            <a:avLst/>
          </a:prstGeom>
          <a:solidFill>
            <a:srgbClr val="22D3EE">
              <a:alpha val="45000"/>
            </a:srgbClr>
          </a:solidFill>
          <a:ln/>
        </p:spPr>
        <p:txBody>
          <a:bodyPr/>
          <a:lstStyle/>
          <a:p>
            <a:endParaRPr lang="en-GB"/>
          </a:p>
        </p:txBody>
      </p:sp>
      <p:sp>
        <p:nvSpPr>
          <p:cNvPr id="37" name="Shape 35"/>
          <p:cNvSpPr/>
          <p:nvPr/>
        </p:nvSpPr>
        <p:spPr>
          <a:xfrm>
            <a:off x="7991856" y="3739896"/>
            <a:ext cx="32004" cy="32004"/>
          </a:xfrm>
          <a:prstGeom prst="ellipse">
            <a:avLst/>
          </a:prstGeom>
          <a:solidFill>
            <a:srgbClr val="22D3EE">
              <a:alpha val="45000"/>
            </a:srgbClr>
          </a:solidFill>
          <a:ln/>
        </p:spPr>
        <p:txBody>
          <a:bodyPr/>
          <a:lstStyle/>
          <a:p>
            <a:endParaRPr lang="en-GB"/>
          </a:p>
        </p:txBody>
      </p:sp>
      <p:sp>
        <p:nvSpPr>
          <p:cNvPr id="38" name="Shape 36"/>
          <p:cNvSpPr/>
          <p:nvPr/>
        </p:nvSpPr>
        <p:spPr>
          <a:xfrm>
            <a:off x="7991856" y="3913632"/>
            <a:ext cx="32004" cy="32004"/>
          </a:xfrm>
          <a:prstGeom prst="ellipse">
            <a:avLst/>
          </a:prstGeom>
          <a:solidFill>
            <a:srgbClr val="22D3EE">
              <a:alpha val="45000"/>
            </a:srgbClr>
          </a:solidFill>
          <a:ln/>
        </p:spPr>
        <p:txBody>
          <a:bodyPr/>
          <a:lstStyle/>
          <a:p>
            <a:endParaRPr lang="en-GB"/>
          </a:p>
        </p:txBody>
      </p:sp>
      <p:sp>
        <p:nvSpPr>
          <p:cNvPr id="39" name="Shape 37"/>
          <p:cNvSpPr/>
          <p:nvPr/>
        </p:nvSpPr>
        <p:spPr>
          <a:xfrm>
            <a:off x="7991856" y="4087368"/>
            <a:ext cx="32004" cy="32004"/>
          </a:xfrm>
          <a:prstGeom prst="ellipse">
            <a:avLst/>
          </a:prstGeom>
          <a:solidFill>
            <a:srgbClr val="22D3EE">
              <a:alpha val="45000"/>
            </a:srgbClr>
          </a:solidFill>
          <a:ln/>
        </p:spPr>
        <p:txBody>
          <a:bodyPr/>
          <a:lstStyle/>
          <a:p>
            <a:endParaRPr lang="en-GB"/>
          </a:p>
        </p:txBody>
      </p:sp>
      <p:sp>
        <p:nvSpPr>
          <p:cNvPr id="40" name="Shape 38"/>
          <p:cNvSpPr/>
          <p:nvPr/>
        </p:nvSpPr>
        <p:spPr>
          <a:xfrm>
            <a:off x="7991856" y="4261104"/>
            <a:ext cx="32004" cy="32004"/>
          </a:xfrm>
          <a:prstGeom prst="ellipse">
            <a:avLst/>
          </a:prstGeom>
          <a:solidFill>
            <a:srgbClr val="22D3EE">
              <a:alpha val="45000"/>
            </a:srgbClr>
          </a:solidFill>
          <a:ln/>
        </p:spPr>
        <p:txBody>
          <a:bodyPr/>
          <a:lstStyle/>
          <a:p>
            <a:endParaRPr lang="en-GB"/>
          </a:p>
        </p:txBody>
      </p:sp>
      <p:sp>
        <p:nvSpPr>
          <p:cNvPr id="41" name="Shape 39"/>
          <p:cNvSpPr/>
          <p:nvPr/>
        </p:nvSpPr>
        <p:spPr>
          <a:xfrm>
            <a:off x="8165592" y="3566160"/>
            <a:ext cx="32004" cy="32004"/>
          </a:xfrm>
          <a:prstGeom prst="ellipse">
            <a:avLst/>
          </a:prstGeom>
          <a:solidFill>
            <a:srgbClr val="22D3EE">
              <a:alpha val="45000"/>
            </a:srgbClr>
          </a:solidFill>
          <a:ln/>
        </p:spPr>
        <p:txBody>
          <a:bodyPr/>
          <a:lstStyle/>
          <a:p>
            <a:endParaRPr lang="en-GB"/>
          </a:p>
        </p:txBody>
      </p:sp>
      <p:sp>
        <p:nvSpPr>
          <p:cNvPr id="42" name="Shape 40"/>
          <p:cNvSpPr/>
          <p:nvPr/>
        </p:nvSpPr>
        <p:spPr>
          <a:xfrm>
            <a:off x="8165592" y="3739896"/>
            <a:ext cx="32004" cy="32004"/>
          </a:xfrm>
          <a:prstGeom prst="ellipse">
            <a:avLst/>
          </a:prstGeom>
          <a:solidFill>
            <a:srgbClr val="22D3EE">
              <a:alpha val="45000"/>
            </a:srgbClr>
          </a:solidFill>
          <a:ln/>
        </p:spPr>
        <p:txBody>
          <a:bodyPr/>
          <a:lstStyle/>
          <a:p>
            <a:endParaRPr lang="en-GB"/>
          </a:p>
        </p:txBody>
      </p:sp>
      <p:sp>
        <p:nvSpPr>
          <p:cNvPr id="43" name="Shape 41"/>
          <p:cNvSpPr/>
          <p:nvPr/>
        </p:nvSpPr>
        <p:spPr>
          <a:xfrm>
            <a:off x="8165592" y="3913632"/>
            <a:ext cx="32004" cy="32004"/>
          </a:xfrm>
          <a:prstGeom prst="ellipse">
            <a:avLst/>
          </a:prstGeom>
          <a:solidFill>
            <a:srgbClr val="22D3EE">
              <a:alpha val="45000"/>
            </a:srgbClr>
          </a:solidFill>
          <a:ln/>
        </p:spPr>
        <p:txBody>
          <a:bodyPr/>
          <a:lstStyle/>
          <a:p>
            <a:endParaRPr lang="en-GB"/>
          </a:p>
        </p:txBody>
      </p:sp>
      <p:sp>
        <p:nvSpPr>
          <p:cNvPr id="44" name="Shape 42"/>
          <p:cNvSpPr/>
          <p:nvPr/>
        </p:nvSpPr>
        <p:spPr>
          <a:xfrm>
            <a:off x="8165592" y="4087368"/>
            <a:ext cx="32004" cy="32004"/>
          </a:xfrm>
          <a:prstGeom prst="ellipse">
            <a:avLst/>
          </a:prstGeom>
          <a:solidFill>
            <a:srgbClr val="22D3EE">
              <a:alpha val="45000"/>
            </a:srgbClr>
          </a:solidFill>
          <a:ln/>
        </p:spPr>
        <p:txBody>
          <a:bodyPr/>
          <a:lstStyle/>
          <a:p>
            <a:endParaRPr lang="en-GB"/>
          </a:p>
        </p:txBody>
      </p:sp>
      <p:sp>
        <p:nvSpPr>
          <p:cNvPr id="45" name="Shape 43"/>
          <p:cNvSpPr/>
          <p:nvPr/>
        </p:nvSpPr>
        <p:spPr>
          <a:xfrm>
            <a:off x="8165592" y="4261104"/>
            <a:ext cx="32004" cy="32004"/>
          </a:xfrm>
          <a:prstGeom prst="ellipse">
            <a:avLst/>
          </a:prstGeom>
          <a:solidFill>
            <a:srgbClr val="22D3EE">
              <a:alpha val="45000"/>
            </a:srgbClr>
          </a:solidFill>
          <a:ln/>
        </p:spPr>
        <p:txBody>
          <a:bodyPr/>
          <a:lstStyle/>
          <a:p>
            <a:endParaRPr lang="en-GB"/>
          </a:p>
        </p:txBody>
      </p:sp>
      <p:sp>
        <p:nvSpPr>
          <p:cNvPr id="46" name="Shape 44"/>
          <p:cNvSpPr/>
          <p:nvPr/>
        </p:nvSpPr>
        <p:spPr>
          <a:xfrm>
            <a:off x="8339328" y="3566160"/>
            <a:ext cx="32004" cy="32004"/>
          </a:xfrm>
          <a:prstGeom prst="ellipse">
            <a:avLst/>
          </a:prstGeom>
          <a:solidFill>
            <a:srgbClr val="22D3EE">
              <a:alpha val="45000"/>
            </a:srgbClr>
          </a:solidFill>
          <a:ln/>
        </p:spPr>
        <p:txBody>
          <a:bodyPr/>
          <a:lstStyle/>
          <a:p>
            <a:endParaRPr lang="en-GB"/>
          </a:p>
        </p:txBody>
      </p:sp>
      <p:sp>
        <p:nvSpPr>
          <p:cNvPr id="47" name="Shape 45"/>
          <p:cNvSpPr/>
          <p:nvPr/>
        </p:nvSpPr>
        <p:spPr>
          <a:xfrm>
            <a:off x="8339328" y="3739896"/>
            <a:ext cx="32004" cy="32004"/>
          </a:xfrm>
          <a:prstGeom prst="ellipse">
            <a:avLst/>
          </a:prstGeom>
          <a:solidFill>
            <a:srgbClr val="22D3EE">
              <a:alpha val="45000"/>
            </a:srgbClr>
          </a:solidFill>
          <a:ln/>
        </p:spPr>
        <p:txBody>
          <a:bodyPr/>
          <a:lstStyle/>
          <a:p>
            <a:endParaRPr lang="en-GB"/>
          </a:p>
        </p:txBody>
      </p:sp>
      <p:sp>
        <p:nvSpPr>
          <p:cNvPr id="48" name="Shape 46"/>
          <p:cNvSpPr/>
          <p:nvPr/>
        </p:nvSpPr>
        <p:spPr>
          <a:xfrm>
            <a:off x="8339328" y="3913632"/>
            <a:ext cx="32004" cy="32004"/>
          </a:xfrm>
          <a:prstGeom prst="ellipse">
            <a:avLst/>
          </a:prstGeom>
          <a:solidFill>
            <a:srgbClr val="22D3EE">
              <a:alpha val="45000"/>
            </a:srgbClr>
          </a:solidFill>
          <a:ln/>
        </p:spPr>
        <p:txBody>
          <a:bodyPr/>
          <a:lstStyle/>
          <a:p>
            <a:endParaRPr lang="en-GB"/>
          </a:p>
        </p:txBody>
      </p:sp>
      <p:sp>
        <p:nvSpPr>
          <p:cNvPr id="49" name="Shape 47"/>
          <p:cNvSpPr/>
          <p:nvPr/>
        </p:nvSpPr>
        <p:spPr>
          <a:xfrm>
            <a:off x="8339328" y="4087368"/>
            <a:ext cx="32004" cy="32004"/>
          </a:xfrm>
          <a:prstGeom prst="ellipse">
            <a:avLst/>
          </a:prstGeom>
          <a:solidFill>
            <a:srgbClr val="22D3EE">
              <a:alpha val="45000"/>
            </a:srgbClr>
          </a:solidFill>
          <a:ln/>
        </p:spPr>
        <p:txBody>
          <a:bodyPr/>
          <a:lstStyle/>
          <a:p>
            <a:endParaRPr lang="en-GB"/>
          </a:p>
        </p:txBody>
      </p:sp>
      <p:sp>
        <p:nvSpPr>
          <p:cNvPr id="50" name="Shape 48"/>
          <p:cNvSpPr/>
          <p:nvPr/>
        </p:nvSpPr>
        <p:spPr>
          <a:xfrm>
            <a:off x="8339328" y="4261104"/>
            <a:ext cx="32004" cy="32004"/>
          </a:xfrm>
          <a:prstGeom prst="ellipse">
            <a:avLst/>
          </a:prstGeom>
          <a:solidFill>
            <a:srgbClr val="22D3EE">
              <a:alpha val="45000"/>
            </a:srgbClr>
          </a:solidFill>
          <a:ln/>
        </p:spPr>
        <p:txBody>
          <a:bodyPr/>
          <a:lstStyle/>
          <a:p>
            <a:endParaRPr lang="en-GB"/>
          </a:p>
        </p:txBody>
      </p:sp>
      <p:sp>
        <p:nvSpPr>
          <p:cNvPr id="51" name="Shape 49"/>
          <p:cNvSpPr/>
          <p:nvPr/>
        </p:nvSpPr>
        <p:spPr>
          <a:xfrm>
            <a:off x="4023360" y="685800"/>
            <a:ext cx="1051560" cy="1051560"/>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52" name="Image 0" descr="preencoded.png"/>
          <p:cNvPicPr>
            <a:picLocks noChangeAspect="1"/>
          </p:cNvPicPr>
          <p:nvPr/>
        </p:nvPicPr>
        <p:blipFill>
          <a:blip r:embed="rId3"/>
          <a:stretch>
            <a:fillRect/>
          </a:stretch>
        </p:blipFill>
        <p:spPr>
          <a:xfrm>
            <a:off x="4286250" y="948690"/>
            <a:ext cx="525780" cy="525780"/>
          </a:xfrm>
          <a:prstGeom prst="rect">
            <a:avLst/>
          </a:prstGeom>
        </p:spPr>
      </p:pic>
      <p:sp>
        <p:nvSpPr>
          <p:cNvPr id="53" name="Text 50"/>
          <p:cNvSpPr/>
          <p:nvPr/>
        </p:nvSpPr>
        <p:spPr>
          <a:xfrm>
            <a:off x="0" y="1874520"/>
            <a:ext cx="9144000" cy="274320"/>
          </a:xfrm>
          <a:prstGeom prst="rect">
            <a:avLst/>
          </a:prstGeom>
          <a:noFill/>
          <a:ln/>
        </p:spPr>
        <p:txBody>
          <a:bodyPr wrap="square" lIns="0" tIns="0" rIns="0" bIns="0" rtlCol="0" anchor="ctr"/>
          <a:lstStyle/>
          <a:p>
            <a:pPr marL="0" indent="0" algn="ctr">
              <a:buNone/>
            </a:pPr>
            <a:r>
              <a:rPr lang="en-US" sz="1200" b="1" kern="0" spc="300" dirty="0">
                <a:solidFill>
                  <a:srgbClr val="22D3EE"/>
                </a:solidFill>
                <a:latin typeface="Calibri" pitchFamily="34" charset="0"/>
                <a:ea typeface="Calibri" pitchFamily="34" charset="-122"/>
                <a:cs typeface="Calibri" pitchFamily="34" charset="-120"/>
              </a:rPr>
              <a:t>DIGITAL EGYPT PIONEERS INITIATIVE  •  DEPI</a:t>
            </a:r>
            <a:endParaRPr lang="en-US" sz="1200" dirty="0"/>
          </a:p>
        </p:txBody>
      </p:sp>
      <p:sp>
        <p:nvSpPr>
          <p:cNvPr id="54" name="Text 51"/>
          <p:cNvSpPr/>
          <p:nvPr/>
        </p:nvSpPr>
        <p:spPr>
          <a:xfrm>
            <a:off x="0" y="2148840"/>
            <a:ext cx="9144000" cy="960120"/>
          </a:xfrm>
          <a:prstGeom prst="rect">
            <a:avLst/>
          </a:prstGeom>
          <a:noFill/>
          <a:ln/>
        </p:spPr>
        <p:txBody>
          <a:bodyPr wrap="square" lIns="0" tIns="0" rIns="0" bIns="0" rtlCol="0" anchor="ctr"/>
          <a:lstStyle/>
          <a:p>
            <a:pPr marL="0" indent="0" algn="ctr">
              <a:buNone/>
            </a:pPr>
            <a:r>
              <a:rPr lang="en-US" sz="6800" b="1" dirty="0">
                <a:solidFill>
                  <a:srgbClr val="F1F5F9"/>
                </a:solidFill>
                <a:latin typeface="Cambria" pitchFamily="34" charset="0"/>
                <a:ea typeface="Cambria" pitchFamily="34" charset="-122"/>
                <a:cs typeface="Cambria" pitchFamily="34" charset="-120"/>
              </a:rPr>
              <a:t>DVWA</a:t>
            </a:r>
            <a:endParaRPr lang="en-US" sz="6800" dirty="0"/>
          </a:p>
        </p:txBody>
      </p:sp>
      <p:sp>
        <p:nvSpPr>
          <p:cNvPr id="55" name="Text 52"/>
          <p:cNvSpPr/>
          <p:nvPr/>
        </p:nvSpPr>
        <p:spPr>
          <a:xfrm>
            <a:off x="0" y="3063240"/>
            <a:ext cx="9144000" cy="457200"/>
          </a:xfrm>
          <a:prstGeom prst="rect">
            <a:avLst/>
          </a:prstGeom>
          <a:noFill/>
          <a:ln/>
        </p:spPr>
        <p:txBody>
          <a:bodyPr wrap="square" lIns="0" tIns="0" rIns="0" bIns="0" rtlCol="0" anchor="ctr"/>
          <a:lstStyle/>
          <a:p>
            <a:pPr marL="0" indent="0" algn="ctr">
              <a:buNone/>
            </a:pPr>
            <a:r>
              <a:rPr lang="en-US" sz="2000" dirty="0">
                <a:solidFill>
                  <a:srgbClr val="9CB0C9"/>
                </a:solidFill>
                <a:latin typeface="Calibri" pitchFamily="34" charset="0"/>
                <a:ea typeface="Calibri" pitchFamily="34" charset="-122"/>
                <a:cs typeface="Calibri" pitchFamily="34" charset="-120"/>
              </a:rPr>
              <a:t>Damn Vulnerable Web Application</a:t>
            </a:r>
            <a:endParaRPr lang="en-US" sz="2000" dirty="0"/>
          </a:p>
        </p:txBody>
      </p:sp>
      <p:sp>
        <p:nvSpPr>
          <p:cNvPr id="56" name="Shape 53"/>
          <p:cNvSpPr/>
          <p:nvPr/>
        </p:nvSpPr>
        <p:spPr>
          <a:xfrm>
            <a:off x="3931920" y="3611880"/>
            <a:ext cx="1280160" cy="0"/>
          </a:xfrm>
          <a:prstGeom prst="line">
            <a:avLst/>
          </a:prstGeom>
          <a:noFill/>
          <a:ln w="15875">
            <a:solidFill>
              <a:srgbClr val="0891B2"/>
            </a:solidFill>
            <a:prstDash val="solid"/>
          </a:ln>
        </p:spPr>
        <p:txBody>
          <a:bodyPr/>
          <a:lstStyle/>
          <a:p>
            <a:endParaRPr lang="en-GB"/>
          </a:p>
        </p:txBody>
      </p:sp>
      <p:sp>
        <p:nvSpPr>
          <p:cNvPr id="57" name="Text 54"/>
          <p:cNvSpPr/>
          <p:nvPr/>
        </p:nvSpPr>
        <p:spPr>
          <a:xfrm>
            <a:off x="914400" y="3730752"/>
            <a:ext cx="7315200" cy="365760"/>
          </a:xfrm>
          <a:prstGeom prst="rect">
            <a:avLst/>
          </a:prstGeom>
          <a:noFill/>
          <a:ln/>
        </p:spPr>
        <p:txBody>
          <a:bodyPr wrap="square" lIns="0" tIns="0" rIns="0" bIns="0" rtlCol="0" anchor="ctr"/>
          <a:lstStyle/>
          <a:p>
            <a:pPr marL="0" indent="0" algn="ctr">
              <a:buNone/>
            </a:pPr>
            <a:r>
              <a:rPr lang="en-US" sz="1300" i="1" dirty="0">
                <a:solidFill>
                  <a:srgbClr val="9CB0C9"/>
                </a:solidFill>
                <a:latin typeface="Calibri" pitchFamily="34" charset="0"/>
                <a:ea typeface="Calibri" pitchFamily="34" charset="-122"/>
                <a:cs typeface="Calibri" pitchFamily="34" charset="-120"/>
              </a:rPr>
              <a:t>A Practical Cybersecurity Project on Common Web Application Vulnerabilities</a:t>
            </a:r>
            <a:endParaRPr lang="en-US" sz="1300" dirty="0"/>
          </a:p>
        </p:txBody>
      </p:sp>
      <p:sp>
        <p:nvSpPr>
          <p:cNvPr id="58" name="Text 55"/>
          <p:cNvSpPr/>
          <p:nvPr/>
        </p:nvSpPr>
        <p:spPr>
          <a:xfrm>
            <a:off x="0" y="4617720"/>
            <a:ext cx="9144000" cy="274320"/>
          </a:xfrm>
          <a:prstGeom prst="rect">
            <a:avLst/>
          </a:prstGeom>
          <a:noFill/>
          <a:ln/>
        </p:spPr>
        <p:txBody>
          <a:bodyPr wrap="square" lIns="0" tIns="0" rIns="0" bIns="0" rtlCol="0" anchor="ctr"/>
          <a:lstStyle/>
          <a:p>
            <a:pPr marL="0" indent="0" algn="ctr">
              <a:buNone/>
            </a:pPr>
            <a:r>
              <a:rPr lang="en-US" sz="1100" kern="0" spc="100" dirty="0">
                <a:solidFill>
                  <a:srgbClr val="5C7191"/>
                </a:solidFill>
                <a:latin typeface="Calibri" pitchFamily="34" charset="0"/>
                <a:ea typeface="Calibri" pitchFamily="34" charset="-122"/>
                <a:cs typeface="Calibri" pitchFamily="34" charset="-120"/>
              </a:rPr>
              <a:t>Cyber Security Incident Response Analyst •  DEPI Graduation Cohort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313006" y="4932626"/>
            <a:ext cx="4572000" cy="228600"/>
          </a:xfrm>
          <a:prstGeom prst="rect">
            <a:avLst/>
          </a:prstGeom>
          <a:noFill/>
          <a:ln/>
        </p:spPr>
        <p:txBody>
          <a:bodyPr wrap="square" lIns="0" tIns="0" rIns="0" bIns="0" rtlCol="0" anchor="ctr"/>
          <a:lstStyle/>
          <a:p>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a:p>
            <a:pPr marL="0" indent="0">
              <a:buNone/>
            </a:pP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02</a:t>
            </a:r>
            <a:endParaRPr lang="en-US" sz="800" dirty="0"/>
          </a:p>
        </p:txBody>
      </p:sp>
      <p:sp>
        <p:nvSpPr>
          <p:cNvPr id="4" name="Text 2"/>
          <p:cNvSpPr/>
          <p:nvPr/>
        </p:nvSpPr>
        <p:spPr>
          <a:xfrm>
            <a:off x="548640" y="320040"/>
            <a:ext cx="7315200" cy="256032"/>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OUR TEAM</a:t>
            </a:r>
            <a:endParaRPr lang="en-US" sz="1100" dirty="0"/>
          </a:p>
        </p:txBody>
      </p:sp>
      <p:sp>
        <p:nvSpPr>
          <p:cNvPr id="5" name="Text 3"/>
          <p:cNvSpPr/>
          <p:nvPr/>
        </p:nvSpPr>
        <p:spPr>
          <a:xfrm>
            <a:off x="548640" y="566928"/>
            <a:ext cx="7132320" cy="640080"/>
          </a:xfrm>
          <a:prstGeom prst="rect">
            <a:avLst/>
          </a:prstGeom>
          <a:noFill/>
          <a:ln/>
        </p:spPr>
        <p:txBody>
          <a:bodyPr wrap="square" lIns="0" tIns="0" rIns="0" bIns="0" rtlCol="0" anchor="ctr"/>
          <a:lstStyle/>
          <a:p>
            <a:pPr marL="0" indent="0">
              <a:buNone/>
            </a:pPr>
            <a:r>
              <a:rPr lang="en-US" sz="3000" b="1" dirty="0">
                <a:solidFill>
                  <a:srgbClr val="F1F5F9"/>
                </a:solidFill>
                <a:latin typeface="Cambria" pitchFamily="34" charset="0"/>
                <a:ea typeface="Cambria" pitchFamily="34" charset="-122"/>
                <a:cs typeface="Cambria" pitchFamily="34" charset="-120"/>
              </a:rPr>
              <a:t>Team Members</a:t>
            </a:r>
            <a:endParaRPr lang="en-US" sz="3000" dirty="0"/>
          </a:p>
        </p:txBody>
      </p:sp>
      <p:sp>
        <p:nvSpPr>
          <p:cNvPr id="6" name="Text 4"/>
          <p:cNvSpPr/>
          <p:nvPr/>
        </p:nvSpPr>
        <p:spPr>
          <a:xfrm>
            <a:off x="548640" y="1170432"/>
            <a:ext cx="7315200" cy="274320"/>
          </a:xfrm>
          <a:prstGeom prst="rect">
            <a:avLst/>
          </a:prstGeom>
          <a:noFill/>
          <a:ln/>
        </p:spPr>
        <p:txBody>
          <a:bodyPr wrap="square" lIns="0" tIns="0" rIns="0" bIns="0" rtlCol="0" anchor="ctr"/>
          <a:lstStyle/>
          <a:p>
            <a:pPr marL="0" indent="0">
              <a:buNone/>
            </a:pPr>
            <a:r>
              <a:rPr lang="en-US" sz="1200" dirty="0">
                <a:solidFill>
                  <a:srgbClr val="9CB0C9"/>
                </a:solidFill>
                <a:latin typeface="Calibri" pitchFamily="34" charset="0"/>
                <a:ea typeface="Calibri" pitchFamily="34" charset="-122"/>
                <a:cs typeface="Calibri" pitchFamily="34" charset="-120"/>
              </a:rPr>
              <a:t>Digital Egypt Pioneers Initiative — Cybersecurity Track</a:t>
            </a:r>
            <a:endParaRPr lang="en-US" sz="1200" dirty="0"/>
          </a:p>
        </p:txBody>
      </p:sp>
      <p:sp>
        <p:nvSpPr>
          <p:cNvPr id="7" name="Shape 5"/>
          <p:cNvSpPr/>
          <p:nvPr/>
        </p:nvSpPr>
        <p:spPr>
          <a:xfrm>
            <a:off x="548640" y="1536192"/>
            <a:ext cx="3977640" cy="960120"/>
          </a:xfrm>
          <a:prstGeom prst="roundRect">
            <a:avLst>
              <a:gd name="adj" fmla="val 8571"/>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8" name="Shape 6"/>
          <p:cNvSpPr/>
          <p:nvPr/>
        </p:nvSpPr>
        <p:spPr>
          <a:xfrm>
            <a:off x="749808" y="1732788"/>
            <a:ext cx="566928" cy="566928"/>
          </a:xfrm>
          <a:prstGeom prst="ellipse">
            <a:avLst/>
          </a:prstGeom>
          <a:solidFill>
            <a:srgbClr val="152238"/>
          </a:solidFill>
          <a:ln/>
        </p:spPr>
        <p:txBody>
          <a:bodyPr/>
          <a:lstStyle/>
          <a:p>
            <a:endParaRPr lang="en-GB"/>
          </a:p>
        </p:txBody>
      </p:sp>
      <p:pic>
        <p:nvPicPr>
          <p:cNvPr id="9" name="Image 0" descr="preencoded.png"/>
          <p:cNvPicPr>
            <a:picLocks noChangeAspect="1"/>
          </p:cNvPicPr>
          <p:nvPr/>
        </p:nvPicPr>
        <p:blipFill>
          <a:blip r:embed="rId3"/>
          <a:stretch>
            <a:fillRect/>
          </a:stretch>
        </p:blipFill>
        <p:spPr>
          <a:xfrm>
            <a:off x="863194" y="1846174"/>
            <a:ext cx="340157" cy="340157"/>
          </a:xfrm>
          <a:prstGeom prst="rect">
            <a:avLst/>
          </a:prstGeom>
        </p:spPr>
      </p:pic>
      <p:sp>
        <p:nvSpPr>
          <p:cNvPr id="10" name="Text 7"/>
          <p:cNvSpPr/>
          <p:nvPr/>
        </p:nvSpPr>
        <p:spPr>
          <a:xfrm>
            <a:off x="1508760" y="1737360"/>
            <a:ext cx="2834640" cy="365760"/>
          </a:xfrm>
          <a:prstGeom prst="rect">
            <a:avLst/>
          </a:prstGeom>
          <a:noFill/>
          <a:ln/>
        </p:spPr>
        <p:txBody>
          <a:bodyPr wrap="square" lIns="0" tIns="0" rIns="0" bIns="0" rtlCol="0" anchor="ctr"/>
          <a:lstStyle/>
          <a:p>
            <a:pPr marL="0" indent="0">
              <a:buNone/>
            </a:pPr>
            <a:r>
              <a:rPr lang="en-US" sz="1350" b="1" dirty="0">
                <a:solidFill>
                  <a:srgbClr val="F1F5F9"/>
                </a:solidFill>
                <a:latin typeface="Calibri" pitchFamily="34" charset="0"/>
                <a:ea typeface="Calibri" pitchFamily="34" charset="-122"/>
                <a:cs typeface="Calibri" pitchFamily="34" charset="-120"/>
              </a:rPr>
              <a:t>Ahmed Ehab Fathy Mohamed</a:t>
            </a:r>
            <a:endParaRPr lang="en-US" sz="1350" dirty="0"/>
          </a:p>
        </p:txBody>
      </p:sp>
      <p:sp>
        <p:nvSpPr>
          <p:cNvPr id="11" name="Text 8"/>
          <p:cNvSpPr/>
          <p:nvPr/>
        </p:nvSpPr>
        <p:spPr>
          <a:xfrm>
            <a:off x="1508760" y="2066544"/>
            <a:ext cx="2834640" cy="274320"/>
          </a:xfrm>
          <a:prstGeom prst="rect">
            <a:avLst/>
          </a:prstGeom>
          <a:noFill/>
          <a:ln/>
        </p:spPr>
        <p:txBody>
          <a:bodyPr wrap="square" lIns="0" tIns="0" rIns="0" bIns="0" rtlCol="0" anchor="ctr"/>
          <a:lstStyle/>
          <a:p>
            <a:pPr marL="0" indent="0">
              <a:buNone/>
            </a:pPr>
            <a:r>
              <a:rPr lang="en-US" sz="1050" dirty="0">
                <a:solidFill>
                  <a:srgbClr val="9CB0C9"/>
                </a:solidFill>
                <a:latin typeface="Calibri" pitchFamily="34" charset="0"/>
                <a:ea typeface="Calibri" pitchFamily="34" charset="-122"/>
                <a:cs typeface="Calibri" pitchFamily="34" charset="-120"/>
              </a:rPr>
              <a:t>Cybersecurity Team Member</a:t>
            </a:r>
            <a:endParaRPr lang="en-US" sz="1050" dirty="0"/>
          </a:p>
        </p:txBody>
      </p:sp>
      <p:sp>
        <p:nvSpPr>
          <p:cNvPr id="12" name="Shape 9"/>
          <p:cNvSpPr/>
          <p:nvPr/>
        </p:nvSpPr>
        <p:spPr>
          <a:xfrm>
            <a:off x="4800600" y="1536192"/>
            <a:ext cx="3977640" cy="960120"/>
          </a:xfrm>
          <a:prstGeom prst="roundRect">
            <a:avLst>
              <a:gd name="adj" fmla="val 8571"/>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3" name="Shape 10"/>
          <p:cNvSpPr/>
          <p:nvPr/>
        </p:nvSpPr>
        <p:spPr>
          <a:xfrm>
            <a:off x="5001768" y="1732788"/>
            <a:ext cx="566928" cy="566928"/>
          </a:xfrm>
          <a:prstGeom prst="ellipse">
            <a:avLst/>
          </a:prstGeom>
          <a:solidFill>
            <a:srgbClr val="152238"/>
          </a:solidFill>
          <a:ln/>
        </p:spPr>
        <p:txBody>
          <a:bodyPr/>
          <a:lstStyle/>
          <a:p>
            <a:endParaRPr lang="en-GB"/>
          </a:p>
        </p:txBody>
      </p:sp>
      <p:pic>
        <p:nvPicPr>
          <p:cNvPr id="14" name="Image 1" descr="preencoded.png"/>
          <p:cNvPicPr>
            <a:picLocks noChangeAspect="1"/>
          </p:cNvPicPr>
          <p:nvPr/>
        </p:nvPicPr>
        <p:blipFill>
          <a:blip r:embed="rId3"/>
          <a:stretch>
            <a:fillRect/>
          </a:stretch>
        </p:blipFill>
        <p:spPr>
          <a:xfrm>
            <a:off x="5115154" y="1846174"/>
            <a:ext cx="340157" cy="340157"/>
          </a:xfrm>
          <a:prstGeom prst="rect">
            <a:avLst/>
          </a:prstGeom>
        </p:spPr>
      </p:pic>
      <p:sp>
        <p:nvSpPr>
          <p:cNvPr id="15" name="Text 11"/>
          <p:cNvSpPr/>
          <p:nvPr/>
        </p:nvSpPr>
        <p:spPr>
          <a:xfrm>
            <a:off x="5760720" y="1737360"/>
            <a:ext cx="2834640" cy="365760"/>
          </a:xfrm>
          <a:prstGeom prst="rect">
            <a:avLst/>
          </a:prstGeom>
          <a:noFill/>
          <a:ln/>
        </p:spPr>
        <p:txBody>
          <a:bodyPr wrap="square" lIns="0" tIns="0" rIns="0" bIns="0" rtlCol="0" anchor="ctr"/>
          <a:lstStyle/>
          <a:p>
            <a:pPr marL="0" indent="0">
              <a:buNone/>
            </a:pPr>
            <a:r>
              <a:rPr lang="en-US" sz="1350" b="1" dirty="0">
                <a:solidFill>
                  <a:srgbClr val="F1F5F9"/>
                </a:solidFill>
                <a:latin typeface="Calibri" pitchFamily="34" charset="0"/>
                <a:ea typeface="Calibri" pitchFamily="34" charset="-122"/>
                <a:cs typeface="Calibri" pitchFamily="34" charset="-120"/>
              </a:rPr>
              <a:t>Mariam Samy Sayed</a:t>
            </a:r>
            <a:endParaRPr lang="en-US" sz="1350" dirty="0"/>
          </a:p>
        </p:txBody>
      </p:sp>
      <p:sp>
        <p:nvSpPr>
          <p:cNvPr id="16" name="Text 12"/>
          <p:cNvSpPr/>
          <p:nvPr/>
        </p:nvSpPr>
        <p:spPr>
          <a:xfrm>
            <a:off x="5760720" y="2066544"/>
            <a:ext cx="2834640" cy="274320"/>
          </a:xfrm>
          <a:prstGeom prst="rect">
            <a:avLst/>
          </a:prstGeom>
          <a:noFill/>
          <a:ln/>
        </p:spPr>
        <p:txBody>
          <a:bodyPr wrap="square" lIns="0" tIns="0" rIns="0" bIns="0" rtlCol="0" anchor="ctr"/>
          <a:lstStyle/>
          <a:p>
            <a:pPr marL="0" indent="0">
              <a:buNone/>
            </a:pPr>
            <a:r>
              <a:rPr lang="en-US" sz="1050" dirty="0">
                <a:solidFill>
                  <a:srgbClr val="9CB0C9"/>
                </a:solidFill>
                <a:latin typeface="Calibri" pitchFamily="34" charset="0"/>
                <a:ea typeface="Calibri" pitchFamily="34" charset="-122"/>
                <a:cs typeface="Calibri" pitchFamily="34" charset="-120"/>
              </a:rPr>
              <a:t>Cybersecurity Team Member</a:t>
            </a:r>
            <a:endParaRPr lang="en-US" sz="1050" dirty="0"/>
          </a:p>
        </p:txBody>
      </p:sp>
      <p:sp>
        <p:nvSpPr>
          <p:cNvPr id="17" name="Shape 13"/>
          <p:cNvSpPr/>
          <p:nvPr/>
        </p:nvSpPr>
        <p:spPr>
          <a:xfrm>
            <a:off x="548640" y="2697480"/>
            <a:ext cx="3977640" cy="960120"/>
          </a:xfrm>
          <a:prstGeom prst="roundRect">
            <a:avLst>
              <a:gd name="adj" fmla="val 8571"/>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8" name="Shape 14"/>
          <p:cNvSpPr/>
          <p:nvPr/>
        </p:nvSpPr>
        <p:spPr>
          <a:xfrm>
            <a:off x="749808" y="2894076"/>
            <a:ext cx="566928" cy="566928"/>
          </a:xfrm>
          <a:prstGeom prst="ellipse">
            <a:avLst/>
          </a:prstGeom>
          <a:solidFill>
            <a:srgbClr val="152238"/>
          </a:solidFill>
          <a:ln/>
        </p:spPr>
        <p:txBody>
          <a:bodyPr/>
          <a:lstStyle/>
          <a:p>
            <a:endParaRPr lang="en-GB"/>
          </a:p>
        </p:txBody>
      </p:sp>
      <p:pic>
        <p:nvPicPr>
          <p:cNvPr id="19" name="Image 2" descr="preencoded.png"/>
          <p:cNvPicPr>
            <a:picLocks noChangeAspect="1"/>
          </p:cNvPicPr>
          <p:nvPr/>
        </p:nvPicPr>
        <p:blipFill>
          <a:blip r:embed="rId3"/>
          <a:stretch>
            <a:fillRect/>
          </a:stretch>
        </p:blipFill>
        <p:spPr>
          <a:xfrm>
            <a:off x="863194" y="3007462"/>
            <a:ext cx="340157" cy="340157"/>
          </a:xfrm>
          <a:prstGeom prst="rect">
            <a:avLst/>
          </a:prstGeom>
        </p:spPr>
      </p:pic>
      <p:sp>
        <p:nvSpPr>
          <p:cNvPr id="20" name="Text 15"/>
          <p:cNvSpPr/>
          <p:nvPr/>
        </p:nvSpPr>
        <p:spPr>
          <a:xfrm>
            <a:off x="1508760" y="2898648"/>
            <a:ext cx="2834640" cy="365760"/>
          </a:xfrm>
          <a:prstGeom prst="rect">
            <a:avLst/>
          </a:prstGeom>
          <a:noFill/>
          <a:ln/>
        </p:spPr>
        <p:txBody>
          <a:bodyPr wrap="square" lIns="0" tIns="0" rIns="0" bIns="0" rtlCol="0" anchor="ctr"/>
          <a:lstStyle/>
          <a:p>
            <a:pPr marL="0" indent="0">
              <a:buNone/>
            </a:pPr>
            <a:r>
              <a:rPr lang="en-US" sz="1350" b="1" dirty="0">
                <a:solidFill>
                  <a:srgbClr val="F1F5F9"/>
                </a:solidFill>
                <a:latin typeface="Calibri" pitchFamily="34" charset="0"/>
                <a:ea typeface="Calibri" pitchFamily="34" charset="-122"/>
                <a:cs typeface="Calibri" pitchFamily="34" charset="-120"/>
              </a:rPr>
              <a:t>Mazen Ahmed Ahmed</a:t>
            </a:r>
            <a:endParaRPr lang="en-US" sz="1350" dirty="0"/>
          </a:p>
        </p:txBody>
      </p:sp>
      <p:sp>
        <p:nvSpPr>
          <p:cNvPr id="21" name="Text 16"/>
          <p:cNvSpPr/>
          <p:nvPr/>
        </p:nvSpPr>
        <p:spPr>
          <a:xfrm>
            <a:off x="1508760" y="3227832"/>
            <a:ext cx="2834640" cy="274320"/>
          </a:xfrm>
          <a:prstGeom prst="rect">
            <a:avLst/>
          </a:prstGeom>
          <a:noFill/>
          <a:ln/>
        </p:spPr>
        <p:txBody>
          <a:bodyPr wrap="square" lIns="0" tIns="0" rIns="0" bIns="0" rtlCol="0" anchor="ctr"/>
          <a:lstStyle/>
          <a:p>
            <a:pPr marL="0" indent="0">
              <a:buNone/>
            </a:pPr>
            <a:r>
              <a:rPr lang="en-US" sz="1050" dirty="0">
                <a:solidFill>
                  <a:srgbClr val="9CB0C9"/>
                </a:solidFill>
                <a:latin typeface="Calibri" pitchFamily="34" charset="0"/>
                <a:ea typeface="Calibri" pitchFamily="34" charset="-122"/>
                <a:cs typeface="Calibri" pitchFamily="34" charset="-120"/>
              </a:rPr>
              <a:t>Cybersecurity Team Member</a:t>
            </a:r>
            <a:endParaRPr lang="en-US" sz="1050" dirty="0"/>
          </a:p>
        </p:txBody>
      </p:sp>
      <p:sp>
        <p:nvSpPr>
          <p:cNvPr id="22" name="Shape 17"/>
          <p:cNvSpPr/>
          <p:nvPr/>
        </p:nvSpPr>
        <p:spPr>
          <a:xfrm>
            <a:off x="4800600" y="2697480"/>
            <a:ext cx="3977640" cy="960120"/>
          </a:xfrm>
          <a:prstGeom prst="roundRect">
            <a:avLst>
              <a:gd name="adj" fmla="val 8571"/>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3" name="Shape 18"/>
          <p:cNvSpPr/>
          <p:nvPr/>
        </p:nvSpPr>
        <p:spPr>
          <a:xfrm>
            <a:off x="5001768" y="2894076"/>
            <a:ext cx="566928" cy="566928"/>
          </a:xfrm>
          <a:prstGeom prst="ellipse">
            <a:avLst/>
          </a:prstGeom>
          <a:solidFill>
            <a:srgbClr val="152238"/>
          </a:solidFill>
          <a:ln/>
        </p:spPr>
        <p:txBody>
          <a:bodyPr/>
          <a:lstStyle/>
          <a:p>
            <a:endParaRPr lang="en-GB"/>
          </a:p>
        </p:txBody>
      </p:sp>
      <p:pic>
        <p:nvPicPr>
          <p:cNvPr id="24" name="Image 3" descr="preencoded.png"/>
          <p:cNvPicPr>
            <a:picLocks noChangeAspect="1"/>
          </p:cNvPicPr>
          <p:nvPr/>
        </p:nvPicPr>
        <p:blipFill>
          <a:blip r:embed="rId3"/>
          <a:stretch>
            <a:fillRect/>
          </a:stretch>
        </p:blipFill>
        <p:spPr>
          <a:xfrm>
            <a:off x="5115154" y="3007462"/>
            <a:ext cx="340157" cy="340157"/>
          </a:xfrm>
          <a:prstGeom prst="rect">
            <a:avLst/>
          </a:prstGeom>
        </p:spPr>
      </p:pic>
      <p:sp>
        <p:nvSpPr>
          <p:cNvPr id="25" name="Text 19"/>
          <p:cNvSpPr/>
          <p:nvPr/>
        </p:nvSpPr>
        <p:spPr>
          <a:xfrm>
            <a:off x="5760720" y="2898648"/>
            <a:ext cx="2834640" cy="365760"/>
          </a:xfrm>
          <a:prstGeom prst="rect">
            <a:avLst/>
          </a:prstGeom>
          <a:noFill/>
          <a:ln/>
        </p:spPr>
        <p:txBody>
          <a:bodyPr wrap="square" lIns="0" tIns="0" rIns="0" bIns="0" rtlCol="0" anchor="ctr"/>
          <a:lstStyle/>
          <a:p>
            <a:pPr marL="0" indent="0">
              <a:buNone/>
            </a:pPr>
            <a:r>
              <a:rPr lang="en-US" sz="1350" b="1" dirty="0">
                <a:solidFill>
                  <a:srgbClr val="F1F5F9"/>
                </a:solidFill>
                <a:latin typeface="Calibri" pitchFamily="34" charset="0"/>
                <a:ea typeface="Calibri" pitchFamily="34" charset="-122"/>
                <a:cs typeface="Calibri" pitchFamily="34" charset="-120"/>
              </a:rPr>
              <a:t>Yasser Hamdy Mohamed</a:t>
            </a:r>
            <a:endParaRPr lang="en-US" sz="1350" dirty="0"/>
          </a:p>
        </p:txBody>
      </p:sp>
      <p:sp>
        <p:nvSpPr>
          <p:cNvPr id="26" name="Text 20"/>
          <p:cNvSpPr/>
          <p:nvPr/>
        </p:nvSpPr>
        <p:spPr>
          <a:xfrm>
            <a:off x="5760720" y="3227832"/>
            <a:ext cx="2834640" cy="274320"/>
          </a:xfrm>
          <a:prstGeom prst="rect">
            <a:avLst/>
          </a:prstGeom>
          <a:noFill/>
          <a:ln/>
        </p:spPr>
        <p:txBody>
          <a:bodyPr wrap="square" lIns="0" tIns="0" rIns="0" bIns="0" rtlCol="0" anchor="ctr"/>
          <a:lstStyle/>
          <a:p>
            <a:pPr marL="0" indent="0">
              <a:buNone/>
            </a:pPr>
            <a:r>
              <a:rPr lang="en-US" sz="1050" dirty="0">
                <a:solidFill>
                  <a:srgbClr val="9CB0C9"/>
                </a:solidFill>
                <a:latin typeface="Calibri" pitchFamily="34" charset="0"/>
                <a:ea typeface="Calibri" pitchFamily="34" charset="-122"/>
                <a:cs typeface="Calibri" pitchFamily="34" charset="-120"/>
              </a:rPr>
              <a:t>Cybersecurity Team Member</a:t>
            </a:r>
            <a:endParaRPr lang="en-US" sz="1050" dirty="0"/>
          </a:p>
        </p:txBody>
      </p:sp>
      <p:sp>
        <p:nvSpPr>
          <p:cNvPr id="27" name="Shape 21"/>
          <p:cNvSpPr/>
          <p:nvPr/>
        </p:nvSpPr>
        <p:spPr>
          <a:xfrm>
            <a:off x="548640" y="3858768"/>
            <a:ext cx="3977640" cy="960120"/>
          </a:xfrm>
          <a:prstGeom prst="roundRect">
            <a:avLst>
              <a:gd name="adj" fmla="val 8571"/>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8" name="Shape 22"/>
          <p:cNvSpPr/>
          <p:nvPr/>
        </p:nvSpPr>
        <p:spPr>
          <a:xfrm>
            <a:off x="749808" y="4055364"/>
            <a:ext cx="566928" cy="566928"/>
          </a:xfrm>
          <a:prstGeom prst="ellipse">
            <a:avLst/>
          </a:prstGeom>
          <a:solidFill>
            <a:srgbClr val="152238"/>
          </a:solidFill>
          <a:ln/>
        </p:spPr>
        <p:txBody>
          <a:bodyPr/>
          <a:lstStyle/>
          <a:p>
            <a:endParaRPr lang="en-GB"/>
          </a:p>
        </p:txBody>
      </p:sp>
      <p:pic>
        <p:nvPicPr>
          <p:cNvPr id="29" name="Image 4" descr="preencoded.png"/>
          <p:cNvPicPr>
            <a:picLocks noChangeAspect="1"/>
          </p:cNvPicPr>
          <p:nvPr/>
        </p:nvPicPr>
        <p:blipFill>
          <a:blip r:embed="rId3"/>
          <a:stretch>
            <a:fillRect/>
          </a:stretch>
        </p:blipFill>
        <p:spPr>
          <a:xfrm>
            <a:off x="863194" y="4168750"/>
            <a:ext cx="340157" cy="340157"/>
          </a:xfrm>
          <a:prstGeom prst="rect">
            <a:avLst/>
          </a:prstGeom>
        </p:spPr>
      </p:pic>
      <p:sp>
        <p:nvSpPr>
          <p:cNvPr id="30" name="Text 23"/>
          <p:cNvSpPr/>
          <p:nvPr/>
        </p:nvSpPr>
        <p:spPr>
          <a:xfrm>
            <a:off x="1508760" y="4059936"/>
            <a:ext cx="2834640" cy="365760"/>
          </a:xfrm>
          <a:prstGeom prst="rect">
            <a:avLst/>
          </a:prstGeom>
          <a:noFill/>
          <a:ln/>
        </p:spPr>
        <p:txBody>
          <a:bodyPr wrap="square" lIns="0" tIns="0" rIns="0" bIns="0" rtlCol="0" anchor="ctr"/>
          <a:lstStyle/>
          <a:p>
            <a:pPr marL="0" indent="0">
              <a:buNone/>
            </a:pPr>
            <a:r>
              <a:rPr lang="en-US" sz="1350" b="1" dirty="0">
                <a:solidFill>
                  <a:srgbClr val="F1F5F9"/>
                </a:solidFill>
                <a:latin typeface="Calibri" pitchFamily="34" charset="0"/>
                <a:ea typeface="Calibri" pitchFamily="34" charset="-122"/>
                <a:cs typeface="Calibri" pitchFamily="34" charset="-120"/>
              </a:rPr>
              <a:t>Manar Hany Ezzat</a:t>
            </a:r>
            <a:endParaRPr lang="en-US" sz="1350" dirty="0"/>
          </a:p>
        </p:txBody>
      </p:sp>
      <p:sp>
        <p:nvSpPr>
          <p:cNvPr id="31" name="Text 24"/>
          <p:cNvSpPr/>
          <p:nvPr/>
        </p:nvSpPr>
        <p:spPr>
          <a:xfrm>
            <a:off x="1508760" y="4389120"/>
            <a:ext cx="2834640" cy="274320"/>
          </a:xfrm>
          <a:prstGeom prst="rect">
            <a:avLst/>
          </a:prstGeom>
          <a:noFill/>
          <a:ln/>
        </p:spPr>
        <p:txBody>
          <a:bodyPr wrap="square" lIns="0" tIns="0" rIns="0" bIns="0" rtlCol="0" anchor="ctr"/>
          <a:lstStyle/>
          <a:p>
            <a:pPr marL="0" indent="0">
              <a:buNone/>
            </a:pPr>
            <a:r>
              <a:rPr lang="en-US" sz="1050" dirty="0">
                <a:solidFill>
                  <a:srgbClr val="9CB0C9"/>
                </a:solidFill>
                <a:latin typeface="Calibri" pitchFamily="34" charset="0"/>
                <a:ea typeface="Calibri" pitchFamily="34" charset="-122"/>
                <a:cs typeface="Calibri" pitchFamily="34" charset="-120"/>
              </a:rPr>
              <a:t>Cybersecurity Team Member</a:t>
            </a:r>
            <a:endParaRPr lang="en-US" sz="1050" dirty="0"/>
          </a:p>
        </p:txBody>
      </p:sp>
      <p:sp>
        <p:nvSpPr>
          <p:cNvPr id="32" name="Shape 25"/>
          <p:cNvSpPr/>
          <p:nvPr/>
        </p:nvSpPr>
        <p:spPr>
          <a:xfrm>
            <a:off x="4800600" y="3858768"/>
            <a:ext cx="3977640" cy="960120"/>
          </a:xfrm>
          <a:prstGeom prst="roundRect">
            <a:avLst>
              <a:gd name="adj" fmla="val 8571"/>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33" name="Shape 26"/>
          <p:cNvSpPr/>
          <p:nvPr/>
        </p:nvSpPr>
        <p:spPr>
          <a:xfrm>
            <a:off x="5001768" y="4055364"/>
            <a:ext cx="566928" cy="566928"/>
          </a:xfrm>
          <a:prstGeom prst="ellipse">
            <a:avLst/>
          </a:prstGeom>
          <a:solidFill>
            <a:srgbClr val="152238"/>
          </a:solidFill>
          <a:ln/>
        </p:spPr>
        <p:txBody>
          <a:bodyPr/>
          <a:lstStyle/>
          <a:p>
            <a:endParaRPr lang="en-GB"/>
          </a:p>
        </p:txBody>
      </p:sp>
      <p:pic>
        <p:nvPicPr>
          <p:cNvPr id="34" name="Image 5" descr="preencoded.png"/>
          <p:cNvPicPr>
            <a:picLocks noChangeAspect="1"/>
          </p:cNvPicPr>
          <p:nvPr/>
        </p:nvPicPr>
        <p:blipFill>
          <a:blip r:embed="rId3"/>
          <a:stretch>
            <a:fillRect/>
          </a:stretch>
        </p:blipFill>
        <p:spPr>
          <a:xfrm>
            <a:off x="5115154" y="4168750"/>
            <a:ext cx="340157" cy="340157"/>
          </a:xfrm>
          <a:prstGeom prst="rect">
            <a:avLst/>
          </a:prstGeom>
        </p:spPr>
      </p:pic>
      <p:sp>
        <p:nvSpPr>
          <p:cNvPr id="35" name="Text 27"/>
          <p:cNvSpPr/>
          <p:nvPr/>
        </p:nvSpPr>
        <p:spPr>
          <a:xfrm>
            <a:off x="5760720" y="4059936"/>
            <a:ext cx="2834640" cy="365760"/>
          </a:xfrm>
          <a:prstGeom prst="rect">
            <a:avLst/>
          </a:prstGeom>
          <a:noFill/>
          <a:ln/>
        </p:spPr>
        <p:txBody>
          <a:bodyPr wrap="square" lIns="0" tIns="0" rIns="0" bIns="0" rtlCol="0" anchor="ctr"/>
          <a:lstStyle/>
          <a:p>
            <a:pPr marL="0" indent="0">
              <a:buNone/>
            </a:pPr>
            <a:r>
              <a:rPr lang="en-US" sz="1350" b="1" dirty="0">
                <a:solidFill>
                  <a:srgbClr val="F1F5F9"/>
                </a:solidFill>
                <a:latin typeface="Calibri" pitchFamily="34" charset="0"/>
                <a:ea typeface="Calibri" pitchFamily="34" charset="-122"/>
                <a:cs typeface="Calibri" pitchFamily="34" charset="-120"/>
              </a:rPr>
              <a:t>Basma Mohamed Mahmoud</a:t>
            </a:r>
            <a:endParaRPr lang="en-US" sz="1350" dirty="0"/>
          </a:p>
        </p:txBody>
      </p:sp>
      <p:sp>
        <p:nvSpPr>
          <p:cNvPr id="36" name="Text 28"/>
          <p:cNvSpPr/>
          <p:nvPr/>
        </p:nvSpPr>
        <p:spPr>
          <a:xfrm>
            <a:off x="5760720" y="4389120"/>
            <a:ext cx="2834640" cy="274320"/>
          </a:xfrm>
          <a:prstGeom prst="rect">
            <a:avLst/>
          </a:prstGeom>
          <a:noFill/>
          <a:ln/>
        </p:spPr>
        <p:txBody>
          <a:bodyPr wrap="square" lIns="0" tIns="0" rIns="0" bIns="0" rtlCol="0" anchor="ctr"/>
          <a:lstStyle/>
          <a:p>
            <a:pPr marL="0" indent="0">
              <a:buNone/>
            </a:pPr>
            <a:r>
              <a:rPr lang="en-US" sz="1050" dirty="0">
                <a:solidFill>
                  <a:srgbClr val="9CB0C9"/>
                </a:solidFill>
                <a:latin typeface="Calibri" pitchFamily="34" charset="0"/>
                <a:ea typeface="Calibri" pitchFamily="34" charset="-122"/>
                <a:cs typeface="Calibri" pitchFamily="34" charset="-120"/>
              </a:rPr>
              <a:t>Cybersecurity Team Member</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06051"/>
            <a:ext cx="64008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03</a:t>
            </a:r>
            <a:endParaRPr lang="en-US" sz="800" dirty="0"/>
          </a:p>
        </p:txBody>
      </p:sp>
      <p:sp>
        <p:nvSpPr>
          <p:cNvPr id="4" name="Text 2"/>
          <p:cNvSpPr/>
          <p:nvPr/>
        </p:nvSpPr>
        <p:spPr>
          <a:xfrm>
            <a:off x="548640" y="320040"/>
            <a:ext cx="7315200" cy="256032"/>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AGENDA</a:t>
            </a:r>
            <a:endParaRPr lang="en-US" sz="1100" dirty="0"/>
          </a:p>
        </p:txBody>
      </p:sp>
      <p:sp>
        <p:nvSpPr>
          <p:cNvPr id="5" name="Text 3"/>
          <p:cNvSpPr/>
          <p:nvPr/>
        </p:nvSpPr>
        <p:spPr>
          <a:xfrm>
            <a:off x="548640" y="566928"/>
            <a:ext cx="7132320" cy="640080"/>
          </a:xfrm>
          <a:prstGeom prst="rect">
            <a:avLst/>
          </a:prstGeom>
          <a:noFill/>
          <a:ln/>
        </p:spPr>
        <p:txBody>
          <a:bodyPr wrap="square" lIns="0" tIns="0" rIns="0" bIns="0" rtlCol="0" anchor="ctr"/>
          <a:lstStyle/>
          <a:p>
            <a:pPr marL="0" indent="0">
              <a:buNone/>
            </a:pPr>
            <a:r>
              <a:rPr lang="en-US" sz="3000" b="1" dirty="0">
                <a:solidFill>
                  <a:srgbClr val="F1F5F9"/>
                </a:solidFill>
                <a:latin typeface="Cambria" pitchFamily="34" charset="0"/>
                <a:ea typeface="Cambria" pitchFamily="34" charset="-122"/>
                <a:cs typeface="Cambria" pitchFamily="34" charset="-120"/>
              </a:rPr>
              <a:t>What We'll Cover</a:t>
            </a:r>
            <a:endParaRPr lang="en-US" sz="3000" dirty="0"/>
          </a:p>
        </p:txBody>
      </p:sp>
      <p:sp>
        <p:nvSpPr>
          <p:cNvPr id="6" name="Shape 4"/>
          <p:cNvSpPr/>
          <p:nvPr/>
        </p:nvSpPr>
        <p:spPr>
          <a:xfrm>
            <a:off x="548640" y="1226175"/>
            <a:ext cx="8046720" cy="749808"/>
          </a:xfrm>
          <a:prstGeom prst="roundRect">
            <a:avLst>
              <a:gd name="adj" fmla="val 9756"/>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7" name="Text 5"/>
          <p:cNvSpPr/>
          <p:nvPr/>
        </p:nvSpPr>
        <p:spPr>
          <a:xfrm>
            <a:off x="777240" y="1226175"/>
            <a:ext cx="822960" cy="749808"/>
          </a:xfrm>
          <a:prstGeom prst="rect">
            <a:avLst/>
          </a:prstGeom>
          <a:noFill/>
          <a:ln/>
        </p:spPr>
        <p:txBody>
          <a:bodyPr wrap="square" lIns="0" tIns="0" rIns="0" bIns="0" rtlCol="0" anchor="ctr"/>
          <a:lstStyle/>
          <a:p>
            <a:pPr marL="0" indent="0">
              <a:buNone/>
            </a:pPr>
            <a:r>
              <a:rPr lang="en-US" sz="2600" b="1" dirty="0">
                <a:solidFill>
                  <a:srgbClr val="0891B2"/>
                </a:solidFill>
                <a:latin typeface="Cambria" pitchFamily="34" charset="0"/>
                <a:ea typeface="Cambria" pitchFamily="34" charset="-122"/>
                <a:cs typeface="Cambria" pitchFamily="34" charset="-120"/>
              </a:rPr>
              <a:t>01</a:t>
            </a:r>
            <a:endParaRPr lang="en-US" sz="2600" dirty="0"/>
          </a:p>
        </p:txBody>
      </p:sp>
      <p:sp>
        <p:nvSpPr>
          <p:cNvPr id="8" name="Shape 6"/>
          <p:cNvSpPr/>
          <p:nvPr/>
        </p:nvSpPr>
        <p:spPr>
          <a:xfrm>
            <a:off x="1600200" y="1372479"/>
            <a:ext cx="457200" cy="457200"/>
          </a:xfrm>
          <a:prstGeom prst="ellipse">
            <a:avLst/>
          </a:prstGeom>
          <a:solidFill>
            <a:srgbClr val="152238"/>
          </a:solidFill>
          <a:ln/>
        </p:spPr>
        <p:txBody>
          <a:bodyPr/>
          <a:lstStyle/>
          <a:p>
            <a:endParaRPr lang="en-GB"/>
          </a:p>
        </p:txBody>
      </p:sp>
      <p:pic>
        <p:nvPicPr>
          <p:cNvPr id="9" name="Image 0" descr="preencoded.png"/>
          <p:cNvPicPr>
            <a:picLocks noChangeAspect="1"/>
          </p:cNvPicPr>
          <p:nvPr/>
        </p:nvPicPr>
        <p:blipFill>
          <a:blip r:embed="rId3"/>
          <a:stretch>
            <a:fillRect/>
          </a:stretch>
        </p:blipFill>
        <p:spPr>
          <a:xfrm>
            <a:off x="1703070" y="1475349"/>
            <a:ext cx="251460" cy="251460"/>
          </a:xfrm>
          <a:prstGeom prst="rect">
            <a:avLst/>
          </a:prstGeom>
        </p:spPr>
      </p:pic>
      <p:sp>
        <p:nvSpPr>
          <p:cNvPr id="10" name="Text 7"/>
          <p:cNvSpPr/>
          <p:nvPr/>
        </p:nvSpPr>
        <p:spPr>
          <a:xfrm>
            <a:off x="2331720" y="1317615"/>
            <a:ext cx="6035040" cy="320040"/>
          </a:xfrm>
          <a:prstGeom prst="rect">
            <a:avLst/>
          </a:prstGeom>
          <a:noFill/>
          <a:ln/>
        </p:spPr>
        <p:txBody>
          <a:bodyPr wrap="square" lIns="0" tIns="0" rIns="0" bIns="0" rtlCol="0" anchor="ctr"/>
          <a:lstStyle/>
          <a:p>
            <a:pPr marL="0" indent="0">
              <a:buNone/>
            </a:pPr>
            <a:r>
              <a:rPr lang="en-US" sz="1500" b="1" dirty="0">
                <a:solidFill>
                  <a:srgbClr val="F1F5F9"/>
                </a:solidFill>
                <a:latin typeface="Calibri" pitchFamily="34" charset="0"/>
                <a:ea typeface="Calibri" pitchFamily="34" charset="-122"/>
                <a:cs typeface="Calibri" pitchFamily="34" charset="-120"/>
              </a:rPr>
              <a:t>DVWA Overview</a:t>
            </a:r>
            <a:endParaRPr lang="en-US" sz="1500" dirty="0"/>
          </a:p>
        </p:txBody>
      </p:sp>
      <p:sp>
        <p:nvSpPr>
          <p:cNvPr id="11" name="Text 8"/>
          <p:cNvSpPr/>
          <p:nvPr/>
        </p:nvSpPr>
        <p:spPr>
          <a:xfrm>
            <a:off x="2331720" y="1628511"/>
            <a:ext cx="6035040" cy="274320"/>
          </a:xfrm>
          <a:prstGeom prst="rect">
            <a:avLst/>
          </a:prstGeom>
          <a:noFill/>
          <a:ln/>
        </p:spPr>
        <p:txBody>
          <a:bodyPr wrap="square" lIns="0" tIns="0" rIns="0" bIns="0" rtlCol="0" anchor="ctr"/>
          <a:lstStyle/>
          <a:p>
            <a:pPr marL="0" indent="0">
              <a:buNone/>
            </a:pPr>
            <a:r>
              <a:rPr lang="en-US" sz="1100" dirty="0">
                <a:solidFill>
                  <a:srgbClr val="9CB0C9"/>
                </a:solidFill>
                <a:latin typeface="Calibri" pitchFamily="34" charset="0"/>
                <a:ea typeface="Calibri" pitchFamily="34" charset="-122"/>
                <a:cs typeface="Calibri" pitchFamily="34" charset="-120"/>
              </a:rPr>
              <a:t>What it is, why we use it, and how it's built</a:t>
            </a:r>
            <a:endParaRPr lang="en-US" sz="1100" dirty="0"/>
          </a:p>
        </p:txBody>
      </p:sp>
      <p:sp>
        <p:nvSpPr>
          <p:cNvPr id="12" name="Shape 9"/>
          <p:cNvSpPr/>
          <p:nvPr/>
        </p:nvSpPr>
        <p:spPr>
          <a:xfrm>
            <a:off x="548640" y="2103999"/>
            <a:ext cx="8046720" cy="749808"/>
          </a:xfrm>
          <a:prstGeom prst="roundRect">
            <a:avLst>
              <a:gd name="adj" fmla="val 9756"/>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3" name="Text 10"/>
          <p:cNvSpPr/>
          <p:nvPr/>
        </p:nvSpPr>
        <p:spPr>
          <a:xfrm>
            <a:off x="777240" y="2103999"/>
            <a:ext cx="822960" cy="749808"/>
          </a:xfrm>
          <a:prstGeom prst="rect">
            <a:avLst/>
          </a:prstGeom>
          <a:noFill/>
          <a:ln/>
        </p:spPr>
        <p:txBody>
          <a:bodyPr wrap="square" lIns="0" tIns="0" rIns="0" bIns="0" rtlCol="0" anchor="ctr"/>
          <a:lstStyle/>
          <a:p>
            <a:pPr marL="0" indent="0">
              <a:buNone/>
            </a:pPr>
            <a:r>
              <a:rPr lang="en-US" sz="2600" b="1" dirty="0">
                <a:solidFill>
                  <a:srgbClr val="0891B2"/>
                </a:solidFill>
                <a:latin typeface="Cambria" pitchFamily="34" charset="0"/>
                <a:ea typeface="Cambria" pitchFamily="34" charset="-122"/>
                <a:cs typeface="Cambria" pitchFamily="34" charset="-120"/>
              </a:rPr>
              <a:t>02</a:t>
            </a:r>
            <a:endParaRPr lang="en-US" sz="2600" dirty="0"/>
          </a:p>
        </p:txBody>
      </p:sp>
      <p:sp>
        <p:nvSpPr>
          <p:cNvPr id="14" name="Shape 11"/>
          <p:cNvSpPr/>
          <p:nvPr/>
        </p:nvSpPr>
        <p:spPr>
          <a:xfrm>
            <a:off x="1600200" y="2250303"/>
            <a:ext cx="457200" cy="457200"/>
          </a:xfrm>
          <a:prstGeom prst="ellipse">
            <a:avLst/>
          </a:prstGeom>
          <a:solidFill>
            <a:srgbClr val="152238"/>
          </a:solidFill>
          <a:ln/>
        </p:spPr>
        <p:txBody>
          <a:bodyPr/>
          <a:lstStyle/>
          <a:p>
            <a:endParaRPr lang="en-GB"/>
          </a:p>
        </p:txBody>
      </p:sp>
      <p:pic>
        <p:nvPicPr>
          <p:cNvPr id="15" name="Image 1" descr="preencoded.png"/>
          <p:cNvPicPr>
            <a:picLocks noChangeAspect="1"/>
          </p:cNvPicPr>
          <p:nvPr/>
        </p:nvPicPr>
        <p:blipFill>
          <a:blip r:embed="rId4"/>
          <a:stretch>
            <a:fillRect/>
          </a:stretch>
        </p:blipFill>
        <p:spPr>
          <a:xfrm>
            <a:off x="1703070" y="2353173"/>
            <a:ext cx="251460" cy="251460"/>
          </a:xfrm>
          <a:prstGeom prst="rect">
            <a:avLst/>
          </a:prstGeom>
        </p:spPr>
      </p:pic>
      <p:sp>
        <p:nvSpPr>
          <p:cNvPr id="16" name="Text 12"/>
          <p:cNvSpPr/>
          <p:nvPr/>
        </p:nvSpPr>
        <p:spPr>
          <a:xfrm>
            <a:off x="2331720" y="2195439"/>
            <a:ext cx="6035040" cy="320040"/>
          </a:xfrm>
          <a:prstGeom prst="rect">
            <a:avLst/>
          </a:prstGeom>
          <a:noFill/>
          <a:ln/>
        </p:spPr>
        <p:txBody>
          <a:bodyPr wrap="square" lIns="0" tIns="0" rIns="0" bIns="0" rtlCol="0" anchor="ctr"/>
          <a:lstStyle/>
          <a:p>
            <a:pPr marL="0" indent="0">
              <a:buNone/>
            </a:pPr>
            <a:r>
              <a:rPr lang="en-US" sz="1500" b="1" dirty="0">
                <a:solidFill>
                  <a:srgbClr val="F1F5F9"/>
                </a:solidFill>
                <a:latin typeface="Calibri" pitchFamily="34" charset="0"/>
                <a:ea typeface="Calibri" pitchFamily="34" charset="-122"/>
                <a:cs typeface="Calibri" pitchFamily="34" charset="-120"/>
              </a:rPr>
              <a:t>Security Levels &amp; Setup</a:t>
            </a:r>
            <a:endParaRPr lang="en-US" sz="1500" dirty="0"/>
          </a:p>
        </p:txBody>
      </p:sp>
      <p:sp>
        <p:nvSpPr>
          <p:cNvPr id="17" name="Text 13"/>
          <p:cNvSpPr/>
          <p:nvPr/>
        </p:nvSpPr>
        <p:spPr>
          <a:xfrm>
            <a:off x="2331720" y="2506335"/>
            <a:ext cx="6035040" cy="274320"/>
          </a:xfrm>
          <a:prstGeom prst="rect">
            <a:avLst/>
          </a:prstGeom>
          <a:noFill/>
          <a:ln/>
        </p:spPr>
        <p:txBody>
          <a:bodyPr wrap="square" lIns="0" tIns="0" rIns="0" bIns="0" rtlCol="0" anchor="ctr"/>
          <a:lstStyle/>
          <a:p>
            <a:pPr marL="0" indent="0">
              <a:buNone/>
            </a:pPr>
            <a:r>
              <a:rPr lang="en-US" sz="1100" dirty="0">
                <a:solidFill>
                  <a:srgbClr val="9CB0C9"/>
                </a:solidFill>
                <a:latin typeface="Calibri" pitchFamily="34" charset="0"/>
                <a:ea typeface="Calibri" pitchFamily="34" charset="-122"/>
                <a:cs typeface="Calibri" pitchFamily="34" charset="-120"/>
              </a:rPr>
              <a:t>Difficulty tiers and our demonstration approach</a:t>
            </a:r>
            <a:endParaRPr lang="en-US" sz="1100" dirty="0"/>
          </a:p>
        </p:txBody>
      </p:sp>
      <p:sp>
        <p:nvSpPr>
          <p:cNvPr id="18" name="Shape 14"/>
          <p:cNvSpPr/>
          <p:nvPr/>
        </p:nvSpPr>
        <p:spPr>
          <a:xfrm>
            <a:off x="548640" y="2981823"/>
            <a:ext cx="8046720" cy="749808"/>
          </a:xfrm>
          <a:prstGeom prst="roundRect">
            <a:avLst>
              <a:gd name="adj" fmla="val 9756"/>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9" name="Text 15"/>
          <p:cNvSpPr/>
          <p:nvPr/>
        </p:nvSpPr>
        <p:spPr>
          <a:xfrm>
            <a:off x="777240" y="2981823"/>
            <a:ext cx="822960" cy="749808"/>
          </a:xfrm>
          <a:prstGeom prst="rect">
            <a:avLst/>
          </a:prstGeom>
          <a:noFill/>
          <a:ln/>
        </p:spPr>
        <p:txBody>
          <a:bodyPr wrap="square" lIns="0" tIns="0" rIns="0" bIns="0" rtlCol="0" anchor="ctr"/>
          <a:lstStyle/>
          <a:p>
            <a:pPr marL="0" indent="0">
              <a:buNone/>
            </a:pPr>
            <a:r>
              <a:rPr lang="en-US" sz="2600" b="1" dirty="0">
                <a:solidFill>
                  <a:srgbClr val="0891B2"/>
                </a:solidFill>
                <a:latin typeface="Cambria" pitchFamily="34" charset="0"/>
                <a:ea typeface="Cambria" pitchFamily="34" charset="-122"/>
                <a:cs typeface="Cambria" pitchFamily="34" charset="-120"/>
              </a:rPr>
              <a:t>03</a:t>
            </a:r>
            <a:endParaRPr lang="en-US" sz="2600" dirty="0"/>
          </a:p>
        </p:txBody>
      </p:sp>
      <p:sp>
        <p:nvSpPr>
          <p:cNvPr id="20" name="Shape 16"/>
          <p:cNvSpPr/>
          <p:nvPr/>
        </p:nvSpPr>
        <p:spPr>
          <a:xfrm>
            <a:off x="1600200" y="3128127"/>
            <a:ext cx="457200" cy="457200"/>
          </a:xfrm>
          <a:prstGeom prst="ellipse">
            <a:avLst/>
          </a:prstGeom>
          <a:solidFill>
            <a:srgbClr val="152238"/>
          </a:solidFill>
          <a:ln/>
        </p:spPr>
        <p:txBody>
          <a:bodyPr/>
          <a:lstStyle/>
          <a:p>
            <a:endParaRPr lang="en-GB"/>
          </a:p>
        </p:txBody>
      </p:sp>
      <p:pic>
        <p:nvPicPr>
          <p:cNvPr id="21" name="Image 2" descr="preencoded.png"/>
          <p:cNvPicPr>
            <a:picLocks noChangeAspect="1"/>
          </p:cNvPicPr>
          <p:nvPr/>
        </p:nvPicPr>
        <p:blipFill>
          <a:blip r:embed="rId5"/>
          <a:stretch>
            <a:fillRect/>
          </a:stretch>
        </p:blipFill>
        <p:spPr>
          <a:xfrm>
            <a:off x="1703070" y="3230997"/>
            <a:ext cx="251460" cy="251460"/>
          </a:xfrm>
          <a:prstGeom prst="rect">
            <a:avLst/>
          </a:prstGeom>
        </p:spPr>
      </p:pic>
      <p:sp>
        <p:nvSpPr>
          <p:cNvPr id="22" name="Text 17"/>
          <p:cNvSpPr/>
          <p:nvPr/>
        </p:nvSpPr>
        <p:spPr>
          <a:xfrm>
            <a:off x="2331720" y="3073263"/>
            <a:ext cx="6035040" cy="320040"/>
          </a:xfrm>
          <a:prstGeom prst="rect">
            <a:avLst/>
          </a:prstGeom>
          <a:noFill/>
          <a:ln/>
        </p:spPr>
        <p:txBody>
          <a:bodyPr wrap="square" lIns="0" tIns="0" rIns="0" bIns="0" rtlCol="0" anchor="ctr"/>
          <a:lstStyle/>
          <a:p>
            <a:pPr marL="0" indent="0">
              <a:buNone/>
            </a:pPr>
            <a:r>
              <a:rPr lang="en-US" sz="1500" b="1" dirty="0">
                <a:solidFill>
                  <a:srgbClr val="F1F5F9"/>
                </a:solidFill>
                <a:latin typeface="Calibri" pitchFamily="34" charset="0"/>
                <a:ea typeface="Calibri" pitchFamily="34" charset="-122"/>
                <a:cs typeface="Calibri" pitchFamily="34" charset="-120"/>
              </a:rPr>
              <a:t>Vulnerability Walkthrough</a:t>
            </a:r>
            <a:endParaRPr lang="en-US" sz="1500" dirty="0"/>
          </a:p>
        </p:txBody>
      </p:sp>
      <p:sp>
        <p:nvSpPr>
          <p:cNvPr id="23" name="Text 18"/>
          <p:cNvSpPr/>
          <p:nvPr/>
        </p:nvSpPr>
        <p:spPr>
          <a:xfrm>
            <a:off x="2331720" y="3384159"/>
            <a:ext cx="6035040" cy="274320"/>
          </a:xfrm>
          <a:prstGeom prst="rect">
            <a:avLst/>
          </a:prstGeom>
          <a:noFill/>
          <a:ln/>
        </p:spPr>
        <p:txBody>
          <a:bodyPr wrap="square" lIns="0" tIns="0" rIns="0" bIns="0" rtlCol="0" anchor="ctr"/>
          <a:lstStyle/>
          <a:p>
            <a:pPr marL="0" indent="0">
              <a:buNone/>
            </a:pPr>
            <a:r>
              <a:rPr lang="en-US" sz="1100" dirty="0">
                <a:solidFill>
                  <a:srgbClr val="9CB0C9"/>
                </a:solidFill>
                <a:latin typeface="Calibri" pitchFamily="34" charset="0"/>
                <a:ea typeface="Calibri" pitchFamily="34" charset="-122"/>
                <a:cs typeface="Calibri" pitchFamily="34" charset="-120"/>
              </a:rPr>
              <a:t>18 core web vulnerability categories explained</a:t>
            </a:r>
            <a:endParaRPr lang="en-US" sz="1100" dirty="0"/>
          </a:p>
        </p:txBody>
      </p:sp>
      <p:sp>
        <p:nvSpPr>
          <p:cNvPr id="24" name="Shape 19"/>
          <p:cNvSpPr/>
          <p:nvPr/>
        </p:nvSpPr>
        <p:spPr>
          <a:xfrm>
            <a:off x="548640" y="3859647"/>
            <a:ext cx="8046720" cy="749808"/>
          </a:xfrm>
          <a:prstGeom prst="roundRect">
            <a:avLst>
              <a:gd name="adj" fmla="val 9756"/>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20"/>
          <p:cNvSpPr/>
          <p:nvPr/>
        </p:nvSpPr>
        <p:spPr>
          <a:xfrm>
            <a:off x="777240" y="3859647"/>
            <a:ext cx="822960" cy="749808"/>
          </a:xfrm>
          <a:prstGeom prst="rect">
            <a:avLst/>
          </a:prstGeom>
          <a:noFill/>
          <a:ln/>
        </p:spPr>
        <p:txBody>
          <a:bodyPr wrap="square" lIns="0" tIns="0" rIns="0" bIns="0" rtlCol="0" anchor="ctr"/>
          <a:lstStyle/>
          <a:p>
            <a:pPr marL="0" indent="0">
              <a:buNone/>
            </a:pPr>
            <a:r>
              <a:rPr lang="en-US" sz="2600" b="1" dirty="0">
                <a:solidFill>
                  <a:srgbClr val="0891B2"/>
                </a:solidFill>
                <a:latin typeface="Cambria" pitchFamily="34" charset="0"/>
                <a:ea typeface="Cambria" pitchFamily="34" charset="-122"/>
                <a:cs typeface="Cambria" pitchFamily="34" charset="-120"/>
              </a:rPr>
              <a:t>04</a:t>
            </a:r>
            <a:endParaRPr lang="en-US" sz="2600" dirty="0"/>
          </a:p>
        </p:txBody>
      </p:sp>
      <p:sp>
        <p:nvSpPr>
          <p:cNvPr id="26" name="Shape 21"/>
          <p:cNvSpPr/>
          <p:nvPr/>
        </p:nvSpPr>
        <p:spPr>
          <a:xfrm>
            <a:off x="1600200" y="4005951"/>
            <a:ext cx="457200" cy="457200"/>
          </a:xfrm>
          <a:prstGeom prst="ellipse">
            <a:avLst/>
          </a:prstGeom>
          <a:solidFill>
            <a:srgbClr val="152238"/>
          </a:solidFill>
          <a:ln/>
        </p:spPr>
        <p:txBody>
          <a:bodyPr/>
          <a:lstStyle/>
          <a:p>
            <a:endParaRPr lang="en-GB"/>
          </a:p>
        </p:txBody>
      </p:sp>
      <p:pic>
        <p:nvPicPr>
          <p:cNvPr id="27" name="Image 3" descr="preencoded.png"/>
          <p:cNvPicPr>
            <a:picLocks noChangeAspect="1"/>
          </p:cNvPicPr>
          <p:nvPr/>
        </p:nvPicPr>
        <p:blipFill>
          <a:blip r:embed="rId6"/>
          <a:stretch>
            <a:fillRect/>
          </a:stretch>
        </p:blipFill>
        <p:spPr>
          <a:xfrm>
            <a:off x="1703070" y="4108821"/>
            <a:ext cx="251460" cy="251460"/>
          </a:xfrm>
          <a:prstGeom prst="rect">
            <a:avLst/>
          </a:prstGeom>
        </p:spPr>
      </p:pic>
      <p:sp>
        <p:nvSpPr>
          <p:cNvPr id="28" name="Text 22"/>
          <p:cNvSpPr/>
          <p:nvPr/>
        </p:nvSpPr>
        <p:spPr>
          <a:xfrm>
            <a:off x="2331720" y="3951087"/>
            <a:ext cx="6035040" cy="320040"/>
          </a:xfrm>
          <a:prstGeom prst="rect">
            <a:avLst/>
          </a:prstGeom>
          <a:noFill/>
          <a:ln/>
        </p:spPr>
        <p:txBody>
          <a:bodyPr wrap="square" lIns="0" tIns="0" rIns="0" bIns="0" rtlCol="0" anchor="ctr"/>
          <a:lstStyle/>
          <a:p>
            <a:pPr marL="0" indent="0">
              <a:buNone/>
            </a:pPr>
            <a:r>
              <a:rPr lang="en-US" sz="1500" b="1" dirty="0">
                <a:solidFill>
                  <a:srgbClr val="F1F5F9"/>
                </a:solidFill>
                <a:latin typeface="Calibri" pitchFamily="34" charset="0"/>
                <a:ea typeface="Calibri" pitchFamily="34" charset="-122"/>
                <a:cs typeface="Calibri" pitchFamily="34" charset="-120"/>
              </a:rPr>
              <a:t>Lessons &amp; Conclusion</a:t>
            </a:r>
            <a:endParaRPr lang="en-US" sz="1500" dirty="0"/>
          </a:p>
        </p:txBody>
      </p:sp>
      <p:sp>
        <p:nvSpPr>
          <p:cNvPr id="29" name="Text 23"/>
          <p:cNvSpPr/>
          <p:nvPr/>
        </p:nvSpPr>
        <p:spPr>
          <a:xfrm>
            <a:off x="2331720" y="4261983"/>
            <a:ext cx="6035040" cy="274320"/>
          </a:xfrm>
          <a:prstGeom prst="rect">
            <a:avLst/>
          </a:prstGeom>
          <a:noFill/>
          <a:ln/>
        </p:spPr>
        <p:txBody>
          <a:bodyPr wrap="square" lIns="0" tIns="0" rIns="0" bIns="0" rtlCol="0" anchor="ctr"/>
          <a:lstStyle/>
          <a:p>
            <a:pPr marL="0" indent="0">
              <a:buNone/>
            </a:pPr>
            <a:r>
              <a:rPr lang="en-US" sz="1100" dirty="0">
                <a:solidFill>
                  <a:srgbClr val="9CB0C9"/>
                </a:solidFill>
                <a:latin typeface="Calibri" pitchFamily="34" charset="0"/>
                <a:ea typeface="Calibri" pitchFamily="34" charset="-122"/>
                <a:cs typeface="Calibri" pitchFamily="34" charset="-120"/>
              </a:rPr>
              <a:t>Key takeaways and secure development practices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04</a:t>
            </a:r>
            <a:endParaRPr lang="en-US" sz="800" dirty="0"/>
          </a:p>
        </p:txBody>
      </p:sp>
      <p:sp>
        <p:nvSpPr>
          <p:cNvPr id="4" name="Text 2"/>
          <p:cNvSpPr/>
          <p:nvPr/>
        </p:nvSpPr>
        <p:spPr>
          <a:xfrm>
            <a:off x="548640" y="320040"/>
            <a:ext cx="7315200" cy="256032"/>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OVERVIEW</a:t>
            </a:r>
            <a:endParaRPr lang="en-US" sz="1100" dirty="0"/>
          </a:p>
        </p:txBody>
      </p:sp>
      <p:sp>
        <p:nvSpPr>
          <p:cNvPr id="5" name="Text 3"/>
          <p:cNvSpPr/>
          <p:nvPr/>
        </p:nvSpPr>
        <p:spPr>
          <a:xfrm>
            <a:off x="548640" y="566928"/>
            <a:ext cx="7132320" cy="640080"/>
          </a:xfrm>
          <a:prstGeom prst="rect">
            <a:avLst/>
          </a:prstGeom>
          <a:noFill/>
          <a:ln/>
        </p:spPr>
        <p:txBody>
          <a:bodyPr wrap="square" lIns="0" tIns="0" rIns="0" bIns="0" rtlCol="0" anchor="ctr"/>
          <a:lstStyle/>
          <a:p>
            <a:pPr marL="0" indent="0">
              <a:buNone/>
            </a:pPr>
            <a:r>
              <a:rPr lang="en-US" sz="3000" b="1" dirty="0">
                <a:solidFill>
                  <a:srgbClr val="F1F5F9"/>
                </a:solidFill>
                <a:latin typeface="Cambria" pitchFamily="34" charset="0"/>
                <a:ea typeface="Cambria" pitchFamily="34" charset="-122"/>
                <a:cs typeface="Cambria" pitchFamily="34" charset="-120"/>
              </a:rPr>
              <a:t>What is DVWA?</a:t>
            </a:r>
            <a:endParaRPr lang="en-US" sz="3000" dirty="0"/>
          </a:p>
        </p:txBody>
      </p:sp>
      <p:sp>
        <p:nvSpPr>
          <p:cNvPr id="6" name="Text 4"/>
          <p:cNvSpPr/>
          <p:nvPr/>
        </p:nvSpPr>
        <p:spPr>
          <a:xfrm>
            <a:off x="548640" y="1188720"/>
            <a:ext cx="8046720" cy="777240"/>
          </a:xfrm>
          <a:prstGeom prst="rect">
            <a:avLst/>
          </a:prstGeom>
          <a:noFill/>
          <a:ln/>
        </p:spPr>
        <p:txBody>
          <a:bodyPr wrap="square" lIns="0" tIns="0" rIns="0" bIns="0" rtlCol="0" anchor="ctr"/>
          <a:lstStyle/>
          <a:p>
            <a:pPr marL="0" indent="0">
              <a:lnSpc>
                <a:spcPct val="115000"/>
              </a:lnSpc>
              <a:buNone/>
            </a:pPr>
            <a:r>
              <a:rPr lang="en-US" sz="1350" dirty="0">
                <a:solidFill>
                  <a:srgbClr val="9CB0C9"/>
                </a:solidFill>
                <a:latin typeface="Calibri" pitchFamily="34" charset="0"/>
                <a:ea typeface="Calibri" pitchFamily="34" charset="-122"/>
                <a:cs typeface="Calibri" pitchFamily="34" charset="-120"/>
              </a:rPr>
              <a:t>DVWA (Damn Vulnerable Web Application) is a PHP/MySQL web application deliberately built with security weaknesses, created to give students and security professionals a safe, legal environment to practice identifying and understanding common web vulnerabilities.</a:t>
            </a:r>
            <a:endParaRPr lang="en-US" sz="1350" dirty="0"/>
          </a:p>
        </p:txBody>
      </p:sp>
      <p:sp>
        <p:nvSpPr>
          <p:cNvPr id="7" name="Shape 5"/>
          <p:cNvSpPr/>
          <p:nvPr/>
        </p:nvSpPr>
        <p:spPr>
          <a:xfrm>
            <a:off x="548640" y="2286000"/>
            <a:ext cx="2606040" cy="2331720"/>
          </a:xfrm>
          <a:prstGeom prst="roundRect">
            <a:avLst>
              <a:gd name="adj" fmla="val 3922"/>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8" name="Shape 6"/>
          <p:cNvSpPr/>
          <p:nvPr/>
        </p:nvSpPr>
        <p:spPr>
          <a:xfrm>
            <a:off x="1554480" y="2560320"/>
            <a:ext cx="594360" cy="594360"/>
          </a:xfrm>
          <a:prstGeom prst="ellipse">
            <a:avLst/>
          </a:prstGeom>
          <a:solidFill>
            <a:srgbClr val="152238"/>
          </a:solidFill>
          <a:ln/>
        </p:spPr>
        <p:txBody>
          <a:bodyPr/>
          <a:lstStyle/>
          <a:p>
            <a:endParaRPr lang="en-GB"/>
          </a:p>
        </p:txBody>
      </p:sp>
      <p:pic>
        <p:nvPicPr>
          <p:cNvPr id="9" name="Image 0" descr="preencoded.png"/>
          <p:cNvPicPr>
            <a:picLocks noChangeAspect="1"/>
          </p:cNvPicPr>
          <p:nvPr/>
        </p:nvPicPr>
        <p:blipFill>
          <a:blip r:embed="rId3"/>
          <a:stretch>
            <a:fillRect/>
          </a:stretch>
        </p:blipFill>
        <p:spPr>
          <a:xfrm>
            <a:off x="1688211" y="2694051"/>
            <a:ext cx="326898" cy="326898"/>
          </a:xfrm>
          <a:prstGeom prst="rect">
            <a:avLst/>
          </a:prstGeom>
        </p:spPr>
      </p:pic>
      <p:sp>
        <p:nvSpPr>
          <p:cNvPr id="10" name="Text 7"/>
          <p:cNvSpPr/>
          <p:nvPr/>
        </p:nvSpPr>
        <p:spPr>
          <a:xfrm>
            <a:off x="713232" y="3337560"/>
            <a:ext cx="2276856" cy="502920"/>
          </a:xfrm>
          <a:prstGeom prst="rect">
            <a:avLst/>
          </a:prstGeom>
          <a:noFill/>
          <a:ln/>
        </p:spPr>
        <p:txBody>
          <a:bodyPr wrap="square" lIns="0" tIns="0" rIns="0" bIns="0" rtlCol="0" anchor="ctr"/>
          <a:lstStyle/>
          <a:p>
            <a:pPr marL="0" indent="0" algn="ctr">
              <a:buNone/>
            </a:pPr>
            <a:r>
              <a:rPr lang="en-US" sz="1300" b="1" dirty="0">
                <a:solidFill>
                  <a:srgbClr val="F1F5F9"/>
                </a:solidFill>
                <a:latin typeface="Calibri" pitchFamily="34" charset="0"/>
                <a:ea typeface="Calibri" pitchFamily="34" charset="-122"/>
                <a:cs typeface="Calibri" pitchFamily="34" charset="-120"/>
              </a:rPr>
              <a:t>Educational Purpose</a:t>
            </a:r>
            <a:endParaRPr lang="en-US" sz="1300" dirty="0"/>
          </a:p>
        </p:txBody>
      </p:sp>
      <p:sp>
        <p:nvSpPr>
          <p:cNvPr id="11" name="Text 8"/>
          <p:cNvSpPr/>
          <p:nvPr/>
        </p:nvSpPr>
        <p:spPr>
          <a:xfrm>
            <a:off x="731520" y="3822192"/>
            <a:ext cx="2240280" cy="685800"/>
          </a:xfrm>
          <a:prstGeom prst="rect">
            <a:avLst/>
          </a:prstGeom>
          <a:noFill/>
          <a:ln/>
        </p:spPr>
        <p:txBody>
          <a:bodyPr wrap="square" lIns="0" tIns="0" rIns="0" bIns="0" rtlCol="0" anchor="ctr"/>
          <a:lstStyle/>
          <a:p>
            <a:pPr marL="0" indent="0" algn="ctr">
              <a:buNone/>
            </a:pPr>
            <a:r>
              <a:rPr lang="en-US" sz="1050" dirty="0">
                <a:solidFill>
                  <a:srgbClr val="9CB0C9"/>
                </a:solidFill>
                <a:latin typeface="Calibri" pitchFamily="34" charset="0"/>
                <a:ea typeface="Calibri" pitchFamily="34" charset="-122"/>
                <a:cs typeface="Calibri" pitchFamily="34" charset="-120"/>
              </a:rPr>
              <a:t>Built for students and security professionals to learn safely, hands-on.</a:t>
            </a:r>
            <a:endParaRPr lang="en-US" sz="1050" dirty="0"/>
          </a:p>
        </p:txBody>
      </p:sp>
      <p:sp>
        <p:nvSpPr>
          <p:cNvPr id="12" name="Shape 9"/>
          <p:cNvSpPr/>
          <p:nvPr/>
        </p:nvSpPr>
        <p:spPr>
          <a:xfrm>
            <a:off x="3337560" y="2286000"/>
            <a:ext cx="2606040" cy="2331720"/>
          </a:xfrm>
          <a:prstGeom prst="roundRect">
            <a:avLst>
              <a:gd name="adj" fmla="val 3922"/>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3" name="Shape 10"/>
          <p:cNvSpPr/>
          <p:nvPr/>
        </p:nvSpPr>
        <p:spPr>
          <a:xfrm>
            <a:off x="4343400" y="2560320"/>
            <a:ext cx="594360" cy="594360"/>
          </a:xfrm>
          <a:prstGeom prst="ellipse">
            <a:avLst/>
          </a:prstGeom>
          <a:solidFill>
            <a:srgbClr val="152238"/>
          </a:solidFill>
          <a:ln/>
        </p:spPr>
        <p:txBody>
          <a:bodyPr/>
          <a:lstStyle/>
          <a:p>
            <a:endParaRPr lang="en-GB"/>
          </a:p>
        </p:txBody>
      </p:sp>
      <p:pic>
        <p:nvPicPr>
          <p:cNvPr id="14" name="Image 1" descr="preencoded.png"/>
          <p:cNvPicPr>
            <a:picLocks noChangeAspect="1"/>
          </p:cNvPicPr>
          <p:nvPr/>
        </p:nvPicPr>
        <p:blipFill>
          <a:blip r:embed="rId4"/>
          <a:stretch>
            <a:fillRect/>
          </a:stretch>
        </p:blipFill>
        <p:spPr>
          <a:xfrm>
            <a:off x="4477131" y="2694051"/>
            <a:ext cx="326898" cy="326898"/>
          </a:xfrm>
          <a:prstGeom prst="rect">
            <a:avLst/>
          </a:prstGeom>
        </p:spPr>
      </p:pic>
      <p:sp>
        <p:nvSpPr>
          <p:cNvPr id="15" name="Text 11"/>
          <p:cNvSpPr/>
          <p:nvPr/>
        </p:nvSpPr>
        <p:spPr>
          <a:xfrm>
            <a:off x="3502152" y="3337560"/>
            <a:ext cx="2276856" cy="502920"/>
          </a:xfrm>
          <a:prstGeom prst="rect">
            <a:avLst/>
          </a:prstGeom>
          <a:noFill/>
          <a:ln/>
        </p:spPr>
        <p:txBody>
          <a:bodyPr wrap="square" lIns="0" tIns="0" rIns="0" bIns="0" rtlCol="0" anchor="ctr"/>
          <a:lstStyle/>
          <a:p>
            <a:pPr marL="0" indent="0" algn="ctr">
              <a:buNone/>
            </a:pPr>
            <a:r>
              <a:rPr lang="en-US" sz="1300" b="1" dirty="0">
                <a:solidFill>
                  <a:srgbClr val="F1F5F9"/>
                </a:solidFill>
                <a:latin typeface="Calibri" pitchFamily="34" charset="0"/>
                <a:ea typeface="Calibri" pitchFamily="34" charset="-122"/>
                <a:cs typeface="Calibri" pitchFamily="34" charset="-120"/>
              </a:rPr>
              <a:t>Isolated Lab Environment</a:t>
            </a:r>
            <a:endParaRPr lang="en-US" sz="1300" dirty="0"/>
          </a:p>
        </p:txBody>
      </p:sp>
      <p:sp>
        <p:nvSpPr>
          <p:cNvPr id="16" name="Text 12"/>
          <p:cNvSpPr/>
          <p:nvPr/>
        </p:nvSpPr>
        <p:spPr>
          <a:xfrm>
            <a:off x="3520440" y="3822192"/>
            <a:ext cx="2240280" cy="685800"/>
          </a:xfrm>
          <a:prstGeom prst="rect">
            <a:avLst/>
          </a:prstGeom>
          <a:noFill/>
          <a:ln/>
        </p:spPr>
        <p:txBody>
          <a:bodyPr wrap="square" lIns="0" tIns="0" rIns="0" bIns="0" rtlCol="0" anchor="ctr"/>
          <a:lstStyle/>
          <a:p>
            <a:pPr marL="0" indent="0" algn="ctr">
              <a:buNone/>
            </a:pPr>
            <a:r>
              <a:rPr lang="en-US" sz="1050" dirty="0">
                <a:solidFill>
                  <a:srgbClr val="9CB0C9"/>
                </a:solidFill>
                <a:latin typeface="Calibri" pitchFamily="34" charset="0"/>
                <a:ea typeface="Calibri" pitchFamily="34" charset="-122"/>
                <a:cs typeface="Calibri" pitchFamily="34" charset="-120"/>
              </a:rPr>
              <a:t>Designed to run only inside a controlled, offline lab setting.</a:t>
            </a:r>
            <a:endParaRPr lang="en-US" sz="1050" dirty="0"/>
          </a:p>
        </p:txBody>
      </p:sp>
      <p:sp>
        <p:nvSpPr>
          <p:cNvPr id="17" name="Shape 13"/>
          <p:cNvSpPr/>
          <p:nvPr/>
        </p:nvSpPr>
        <p:spPr>
          <a:xfrm>
            <a:off x="6126480" y="2286000"/>
            <a:ext cx="2606040" cy="2331720"/>
          </a:xfrm>
          <a:prstGeom prst="roundRect">
            <a:avLst>
              <a:gd name="adj" fmla="val 3922"/>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8" name="Shape 14"/>
          <p:cNvSpPr/>
          <p:nvPr/>
        </p:nvSpPr>
        <p:spPr>
          <a:xfrm>
            <a:off x="7132320" y="2560320"/>
            <a:ext cx="594360" cy="594360"/>
          </a:xfrm>
          <a:prstGeom prst="ellipse">
            <a:avLst/>
          </a:prstGeom>
          <a:solidFill>
            <a:srgbClr val="152238"/>
          </a:solidFill>
          <a:ln/>
        </p:spPr>
        <p:txBody>
          <a:bodyPr/>
          <a:lstStyle/>
          <a:p>
            <a:endParaRPr lang="en-GB"/>
          </a:p>
        </p:txBody>
      </p:sp>
      <p:pic>
        <p:nvPicPr>
          <p:cNvPr id="19" name="Image 2" descr="preencoded.png"/>
          <p:cNvPicPr>
            <a:picLocks noChangeAspect="1"/>
          </p:cNvPicPr>
          <p:nvPr/>
        </p:nvPicPr>
        <p:blipFill>
          <a:blip r:embed="rId5"/>
          <a:stretch>
            <a:fillRect/>
          </a:stretch>
        </p:blipFill>
        <p:spPr>
          <a:xfrm>
            <a:off x="7266051" y="2694051"/>
            <a:ext cx="326898" cy="326898"/>
          </a:xfrm>
          <a:prstGeom prst="rect">
            <a:avLst/>
          </a:prstGeom>
        </p:spPr>
      </p:pic>
      <p:sp>
        <p:nvSpPr>
          <p:cNvPr id="20" name="Text 15"/>
          <p:cNvSpPr/>
          <p:nvPr/>
        </p:nvSpPr>
        <p:spPr>
          <a:xfrm>
            <a:off x="6291072" y="3337560"/>
            <a:ext cx="2276856" cy="502920"/>
          </a:xfrm>
          <a:prstGeom prst="rect">
            <a:avLst/>
          </a:prstGeom>
          <a:noFill/>
          <a:ln/>
        </p:spPr>
        <p:txBody>
          <a:bodyPr wrap="square" lIns="0" tIns="0" rIns="0" bIns="0" rtlCol="0" anchor="ctr"/>
          <a:lstStyle/>
          <a:p>
            <a:pPr marL="0" indent="0" algn="ctr">
              <a:buNone/>
            </a:pPr>
            <a:r>
              <a:rPr lang="en-US" sz="1300" b="1" dirty="0">
                <a:solidFill>
                  <a:srgbClr val="F1F5F9"/>
                </a:solidFill>
                <a:latin typeface="Calibri" pitchFamily="34" charset="0"/>
                <a:ea typeface="Calibri" pitchFamily="34" charset="-122"/>
                <a:cs typeface="Calibri" pitchFamily="34" charset="-120"/>
              </a:rPr>
              <a:t>Covers OWASP Top Risks</a:t>
            </a:r>
            <a:endParaRPr lang="en-US" sz="1300" dirty="0"/>
          </a:p>
        </p:txBody>
      </p:sp>
      <p:sp>
        <p:nvSpPr>
          <p:cNvPr id="21" name="Text 16"/>
          <p:cNvSpPr/>
          <p:nvPr/>
        </p:nvSpPr>
        <p:spPr>
          <a:xfrm>
            <a:off x="6309360" y="3822192"/>
            <a:ext cx="2240280" cy="685800"/>
          </a:xfrm>
          <a:prstGeom prst="rect">
            <a:avLst/>
          </a:prstGeom>
          <a:noFill/>
          <a:ln/>
        </p:spPr>
        <p:txBody>
          <a:bodyPr wrap="square" lIns="0" tIns="0" rIns="0" bIns="0" rtlCol="0" anchor="ctr"/>
          <a:lstStyle/>
          <a:p>
            <a:pPr marL="0" indent="0" algn="ctr">
              <a:buNone/>
            </a:pPr>
            <a:r>
              <a:rPr lang="en-US" sz="1050" dirty="0">
                <a:solidFill>
                  <a:srgbClr val="9CB0C9"/>
                </a:solidFill>
                <a:latin typeface="Calibri" pitchFamily="34" charset="0"/>
                <a:ea typeface="Calibri" pitchFamily="34" charset="-122"/>
                <a:cs typeface="Calibri" pitchFamily="34" charset="-120"/>
              </a:rPr>
              <a:t>Includes many of the most common real-world vulnerability classes.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05</a:t>
            </a:r>
            <a:endParaRPr lang="en-US" sz="800" dirty="0"/>
          </a:p>
        </p:txBody>
      </p:sp>
      <p:sp>
        <p:nvSpPr>
          <p:cNvPr id="4" name="Text 2"/>
          <p:cNvSpPr/>
          <p:nvPr/>
        </p:nvSpPr>
        <p:spPr>
          <a:xfrm>
            <a:off x="548640" y="320040"/>
            <a:ext cx="7315200" cy="256032"/>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RATIONALE</a:t>
            </a:r>
            <a:endParaRPr lang="en-US" sz="1100" dirty="0"/>
          </a:p>
        </p:txBody>
      </p:sp>
      <p:sp>
        <p:nvSpPr>
          <p:cNvPr id="5" name="Text 3"/>
          <p:cNvSpPr/>
          <p:nvPr/>
        </p:nvSpPr>
        <p:spPr>
          <a:xfrm>
            <a:off x="548640" y="566928"/>
            <a:ext cx="7132320" cy="640080"/>
          </a:xfrm>
          <a:prstGeom prst="rect">
            <a:avLst/>
          </a:prstGeom>
          <a:noFill/>
          <a:ln/>
        </p:spPr>
        <p:txBody>
          <a:bodyPr wrap="square" lIns="0" tIns="0" rIns="0" bIns="0" rtlCol="0" anchor="ctr"/>
          <a:lstStyle/>
          <a:p>
            <a:pPr marL="0" indent="0">
              <a:buNone/>
            </a:pPr>
            <a:r>
              <a:rPr lang="en-US" sz="3000" b="1" dirty="0">
                <a:solidFill>
                  <a:srgbClr val="F1F5F9"/>
                </a:solidFill>
                <a:latin typeface="Cambria" pitchFamily="34" charset="0"/>
                <a:ea typeface="Cambria" pitchFamily="34" charset="-122"/>
                <a:cs typeface="Cambria" pitchFamily="34" charset="-120"/>
              </a:rPr>
              <a:t>Why We Use DVWA</a:t>
            </a:r>
            <a:endParaRPr lang="en-US" sz="3000" dirty="0"/>
          </a:p>
        </p:txBody>
      </p:sp>
      <p:sp>
        <p:nvSpPr>
          <p:cNvPr id="6" name="Text 4"/>
          <p:cNvSpPr/>
          <p:nvPr/>
        </p:nvSpPr>
        <p:spPr>
          <a:xfrm>
            <a:off x="548640" y="1170432"/>
            <a:ext cx="7772400" cy="274320"/>
          </a:xfrm>
          <a:prstGeom prst="rect">
            <a:avLst/>
          </a:prstGeom>
          <a:noFill/>
          <a:ln/>
        </p:spPr>
        <p:txBody>
          <a:bodyPr wrap="square" lIns="0" tIns="0" rIns="0" bIns="0" rtlCol="0" anchor="ctr"/>
          <a:lstStyle/>
          <a:p>
            <a:pPr marL="0" indent="0">
              <a:buNone/>
            </a:pPr>
            <a:r>
              <a:rPr lang="en-US" sz="1250" dirty="0">
                <a:solidFill>
                  <a:srgbClr val="9CB0C9"/>
                </a:solidFill>
                <a:latin typeface="Calibri" pitchFamily="34" charset="0"/>
                <a:ea typeface="Calibri" pitchFamily="34" charset="-122"/>
                <a:cs typeface="Calibri" pitchFamily="34" charset="-120"/>
              </a:rPr>
              <a:t>A safe, structured way to connect vulnerability theory with hands-on practice.</a:t>
            </a:r>
            <a:endParaRPr lang="en-US" sz="1250" dirty="0"/>
          </a:p>
        </p:txBody>
      </p:sp>
      <p:sp>
        <p:nvSpPr>
          <p:cNvPr id="7" name="Shape 5"/>
          <p:cNvSpPr/>
          <p:nvPr/>
        </p:nvSpPr>
        <p:spPr>
          <a:xfrm>
            <a:off x="548640" y="162763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8" name="Shape 6"/>
          <p:cNvSpPr/>
          <p:nvPr/>
        </p:nvSpPr>
        <p:spPr>
          <a:xfrm>
            <a:off x="713232" y="1792224"/>
            <a:ext cx="420624" cy="420624"/>
          </a:xfrm>
          <a:prstGeom prst="ellipse">
            <a:avLst/>
          </a:prstGeom>
          <a:solidFill>
            <a:srgbClr val="152238"/>
          </a:solidFill>
          <a:ln/>
        </p:spPr>
        <p:txBody>
          <a:bodyPr/>
          <a:lstStyle/>
          <a:p>
            <a:endParaRPr lang="en-GB"/>
          </a:p>
        </p:txBody>
      </p:sp>
      <p:pic>
        <p:nvPicPr>
          <p:cNvPr id="9" name="Image 0" descr="preencoded.png"/>
          <p:cNvPicPr>
            <a:picLocks noChangeAspect="1"/>
          </p:cNvPicPr>
          <p:nvPr/>
        </p:nvPicPr>
        <p:blipFill>
          <a:blip r:embed="rId3"/>
          <a:stretch>
            <a:fillRect/>
          </a:stretch>
        </p:blipFill>
        <p:spPr>
          <a:xfrm>
            <a:off x="807872" y="1886864"/>
            <a:ext cx="231343" cy="231343"/>
          </a:xfrm>
          <a:prstGeom prst="rect">
            <a:avLst/>
          </a:prstGeom>
        </p:spPr>
      </p:pic>
      <p:sp>
        <p:nvSpPr>
          <p:cNvPr id="10" name="Text 7"/>
          <p:cNvSpPr/>
          <p:nvPr/>
        </p:nvSpPr>
        <p:spPr>
          <a:xfrm>
            <a:off x="713232" y="228600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Hands-On Learning</a:t>
            </a:r>
            <a:endParaRPr lang="en-US" sz="1200" dirty="0"/>
          </a:p>
        </p:txBody>
      </p:sp>
      <p:sp>
        <p:nvSpPr>
          <p:cNvPr id="11" name="Text 8"/>
          <p:cNvSpPr/>
          <p:nvPr/>
        </p:nvSpPr>
        <p:spPr>
          <a:xfrm>
            <a:off x="713232" y="254203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Turns abstract security theory into practical, observable behavior.</a:t>
            </a:r>
            <a:endParaRPr lang="en-US" sz="950" dirty="0"/>
          </a:p>
        </p:txBody>
      </p:sp>
      <p:sp>
        <p:nvSpPr>
          <p:cNvPr id="12" name="Shape 9"/>
          <p:cNvSpPr/>
          <p:nvPr/>
        </p:nvSpPr>
        <p:spPr>
          <a:xfrm>
            <a:off x="3337560" y="162763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3" name="Shape 10"/>
          <p:cNvSpPr/>
          <p:nvPr/>
        </p:nvSpPr>
        <p:spPr>
          <a:xfrm>
            <a:off x="3502152" y="1792224"/>
            <a:ext cx="420624" cy="420624"/>
          </a:xfrm>
          <a:prstGeom prst="ellipse">
            <a:avLst/>
          </a:prstGeom>
          <a:solidFill>
            <a:srgbClr val="152238"/>
          </a:solidFill>
          <a:ln/>
        </p:spPr>
        <p:txBody>
          <a:bodyPr/>
          <a:lstStyle/>
          <a:p>
            <a:endParaRPr lang="en-GB"/>
          </a:p>
        </p:txBody>
      </p:sp>
      <p:pic>
        <p:nvPicPr>
          <p:cNvPr id="14" name="Image 1" descr="preencoded.png"/>
          <p:cNvPicPr>
            <a:picLocks noChangeAspect="1"/>
          </p:cNvPicPr>
          <p:nvPr/>
        </p:nvPicPr>
        <p:blipFill>
          <a:blip r:embed="rId4"/>
          <a:stretch>
            <a:fillRect/>
          </a:stretch>
        </p:blipFill>
        <p:spPr>
          <a:xfrm>
            <a:off x="3596792" y="1886864"/>
            <a:ext cx="231343" cy="231343"/>
          </a:xfrm>
          <a:prstGeom prst="rect">
            <a:avLst/>
          </a:prstGeom>
        </p:spPr>
      </p:pic>
      <p:sp>
        <p:nvSpPr>
          <p:cNvPr id="15" name="Text 11"/>
          <p:cNvSpPr/>
          <p:nvPr/>
        </p:nvSpPr>
        <p:spPr>
          <a:xfrm>
            <a:off x="3502152" y="228600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Adjustable Difficulty</a:t>
            </a:r>
            <a:endParaRPr lang="en-US" sz="1200" dirty="0"/>
          </a:p>
        </p:txBody>
      </p:sp>
      <p:sp>
        <p:nvSpPr>
          <p:cNvPr id="16" name="Text 12"/>
          <p:cNvSpPr/>
          <p:nvPr/>
        </p:nvSpPr>
        <p:spPr>
          <a:xfrm>
            <a:off x="3502152" y="254203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Four security levels let us compare weak vs. strong defenses directly.</a:t>
            </a:r>
            <a:endParaRPr lang="en-US" sz="950" dirty="0"/>
          </a:p>
        </p:txBody>
      </p:sp>
      <p:sp>
        <p:nvSpPr>
          <p:cNvPr id="17" name="Shape 13"/>
          <p:cNvSpPr/>
          <p:nvPr/>
        </p:nvSpPr>
        <p:spPr>
          <a:xfrm>
            <a:off x="6126480" y="162763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8" name="Shape 14"/>
          <p:cNvSpPr/>
          <p:nvPr/>
        </p:nvSpPr>
        <p:spPr>
          <a:xfrm>
            <a:off x="6291072" y="1792224"/>
            <a:ext cx="420624" cy="420624"/>
          </a:xfrm>
          <a:prstGeom prst="ellipse">
            <a:avLst/>
          </a:prstGeom>
          <a:solidFill>
            <a:srgbClr val="152238"/>
          </a:solidFill>
          <a:ln/>
        </p:spPr>
        <p:txBody>
          <a:bodyPr/>
          <a:lstStyle/>
          <a:p>
            <a:endParaRPr lang="en-GB"/>
          </a:p>
        </p:txBody>
      </p:sp>
      <p:pic>
        <p:nvPicPr>
          <p:cNvPr id="19" name="Image 2" descr="preencoded.png"/>
          <p:cNvPicPr>
            <a:picLocks noChangeAspect="1"/>
          </p:cNvPicPr>
          <p:nvPr/>
        </p:nvPicPr>
        <p:blipFill>
          <a:blip r:embed="rId5"/>
          <a:stretch>
            <a:fillRect/>
          </a:stretch>
        </p:blipFill>
        <p:spPr>
          <a:xfrm>
            <a:off x="6385712" y="1886864"/>
            <a:ext cx="231343" cy="231343"/>
          </a:xfrm>
          <a:prstGeom prst="rect">
            <a:avLst/>
          </a:prstGeom>
        </p:spPr>
      </p:pic>
      <p:sp>
        <p:nvSpPr>
          <p:cNvPr id="20" name="Text 15"/>
          <p:cNvSpPr/>
          <p:nvPr/>
        </p:nvSpPr>
        <p:spPr>
          <a:xfrm>
            <a:off x="6291072" y="228600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Legal &amp; Safe</a:t>
            </a:r>
            <a:endParaRPr lang="en-US" sz="1200" dirty="0"/>
          </a:p>
        </p:txBody>
      </p:sp>
      <p:sp>
        <p:nvSpPr>
          <p:cNvPr id="21" name="Text 16"/>
          <p:cNvSpPr/>
          <p:nvPr/>
        </p:nvSpPr>
        <p:spPr>
          <a:xfrm>
            <a:off x="6291072" y="254203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A sanctioned target, avoiding any risk to real production systems.</a:t>
            </a:r>
            <a:endParaRPr lang="en-US" sz="950" dirty="0"/>
          </a:p>
        </p:txBody>
      </p:sp>
      <p:sp>
        <p:nvSpPr>
          <p:cNvPr id="22" name="Shape 17"/>
          <p:cNvSpPr/>
          <p:nvPr/>
        </p:nvSpPr>
        <p:spPr>
          <a:xfrm>
            <a:off x="548640" y="318211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3" name="Shape 18"/>
          <p:cNvSpPr/>
          <p:nvPr/>
        </p:nvSpPr>
        <p:spPr>
          <a:xfrm>
            <a:off x="713232" y="3346704"/>
            <a:ext cx="420624" cy="420624"/>
          </a:xfrm>
          <a:prstGeom prst="ellipse">
            <a:avLst/>
          </a:prstGeom>
          <a:solidFill>
            <a:srgbClr val="152238"/>
          </a:solidFill>
          <a:ln/>
        </p:spPr>
        <p:txBody>
          <a:bodyPr/>
          <a:lstStyle/>
          <a:p>
            <a:endParaRPr lang="en-GB"/>
          </a:p>
        </p:txBody>
      </p:sp>
      <p:pic>
        <p:nvPicPr>
          <p:cNvPr id="24" name="Image 3" descr="preencoded.png"/>
          <p:cNvPicPr>
            <a:picLocks noChangeAspect="1"/>
          </p:cNvPicPr>
          <p:nvPr/>
        </p:nvPicPr>
        <p:blipFill>
          <a:blip r:embed="rId6"/>
          <a:stretch>
            <a:fillRect/>
          </a:stretch>
        </p:blipFill>
        <p:spPr>
          <a:xfrm>
            <a:off x="807872" y="3441344"/>
            <a:ext cx="231343" cy="231343"/>
          </a:xfrm>
          <a:prstGeom prst="rect">
            <a:avLst/>
          </a:prstGeom>
        </p:spPr>
      </p:pic>
      <p:sp>
        <p:nvSpPr>
          <p:cNvPr id="25" name="Text 19"/>
          <p:cNvSpPr/>
          <p:nvPr/>
        </p:nvSpPr>
        <p:spPr>
          <a:xfrm>
            <a:off x="713232" y="384048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Broad Coverage</a:t>
            </a:r>
            <a:endParaRPr lang="en-US" sz="1200" dirty="0"/>
          </a:p>
        </p:txBody>
      </p:sp>
      <p:sp>
        <p:nvSpPr>
          <p:cNvPr id="26" name="Text 20"/>
          <p:cNvSpPr/>
          <p:nvPr/>
        </p:nvSpPr>
        <p:spPr>
          <a:xfrm>
            <a:off x="713232" y="409651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Spans injection, access control, session, and client-side flaws.</a:t>
            </a:r>
            <a:endParaRPr lang="en-US" sz="950" dirty="0"/>
          </a:p>
        </p:txBody>
      </p:sp>
      <p:sp>
        <p:nvSpPr>
          <p:cNvPr id="27" name="Shape 21"/>
          <p:cNvSpPr/>
          <p:nvPr/>
        </p:nvSpPr>
        <p:spPr>
          <a:xfrm>
            <a:off x="3337560" y="318211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8" name="Shape 22"/>
          <p:cNvSpPr/>
          <p:nvPr/>
        </p:nvSpPr>
        <p:spPr>
          <a:xfrm>
            <a:off x="3502152" y="3346704"/>
            <a:ext cx="420624" cy="420624"/>
          </a:xfrm>
          <a:prstGeom prst="ellipse">
            <a:avLst/>
          </a:prstGeom>
          <a:solidFill>
            <a:srgbClr val="152238"/>
          </a:solidFill>
          <a:ln/>
        </p:spPr>
        <p:txBody>
          <a:bodyPr/>
          <a:lstStyle/>
          <a:p>
            <a:endParaRPr lang="en-GB"/>
          </a:p>
        </p:txBody>
      </p:sp>
      <p:pic>
        <p:nvPicPr>
          <p:cNvPr id="29" name="Image 4" descr="preencoded.png"/>
          <p:cNvPicPr>
            <a:picLocks noChangeAspect="1"/>
          </p:cNvPicPr>
          <p:nvPr/>
        </p:nvPicPr>
        <p:blipFill>
          <a:blip r:embed="rId7"/>
          <a:stretch>
            <a:fillRect/>
          </a:stretch>
        </p:blipFill>
        <p:spPr>
          <a:xfrm>
            <a:off x="3596792" y="3441344"/>
            <a:ext cx="231343" cy="231343"/>
          </a:xfrm>
          <a:prstGeom prst="rect">
            <a:avLst/>
          </a:prstGeom>
        </p:spPr>
      </p:pic>
      <p:sp>
        <p:nvSpPr>
          <p:cNvPr id="30" name="Text 23"/>
          <p:cNvSpPr/>
          <p:nvPr/>
        </p:nvSpPr>
        <p:spPr>
          <a:xfrm>
            <a:off x="3502152" y="384048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Widely Recognized</a:t>
            </a:r>
            <a:endParaRPr lang="en-US" sz="1200" dirty="0"/>
          </a:p>
        </p:txBody>
      </p:sp>
      <p:sp>
        <p:nvSpPr>
          <p:cNvPr id="31" name="Text 24"/>
          <p:cNvSpPr/>
          <p:nvPr/>
        </p:nvSpPr>
        <p:spPr>
          <a:xfrm>
            <a:off x="3502152" y="409651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A standard teaching tool used across academic security courses.</a:t>
            </a:r>
            <a:endParaRPr lang="en-US" sz="950" dirty="0"/>
          </a:p>
        </p:txBody>
      </p:sp>
      <p:sp>
        <p:nvSpPr>
          <p:cNvPr id="32" name="Shape 25"/>
          <p:cNvSpPr/>
          <p:nvPr/>
        </p:nvSpPr>
        <p:spPr>
          <a:xfrm>
            <a:off x="6126480" y="318211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33" name="Shape 26"/>
          <p:cNvSpPr/>
          <p:nvPr/>
        </p:nvSpPr>
        <p:spPr>
          <a:xfrm>
            <a:off x="6291072" y="3346704"/>
            <a:ext cx="420624" cy="420624"/>
          </a:xfrm>
          <a:prstGeom prst="ellipse">
            <a:avLst/>
          </a:prstGeom>
          <a:solidFill>
            <a:srgbClr val="152238"/>
          </a:solidFill>
          <a:ln/>
        </p:spPr>
        <p:txBody>
          <a:bodyPr/>
          <a:lstStyle/>
          <a:p>
            <a:endParaRPr lang="en-GB"/>
          </a:p>
        </p:txBody>
      </p:sp>
      <p:pic>
        <p:nvPicPr>
          <p:cNvPr id="34" name="Image 5" descr="preencoded.png"/>
          <p:cNvPicPr>
            <a:picLocks noChangeAspect="1"/>
          </p:cNvPicPr>
          <p:nvPr/>
        </p:nvPicPr>
        <p:blipFill>
          <a:blip r:embed="rId8"/>
          <a:stretch>
            <a:fillRect/>
          </a:stretch>
        </p:blipFill>
        <p:spPr>
          <a:xfrm>
            <a:off x="6385712" y="3441344"/>
            <a:ext cx="231343" cy="231343"/>
          </a:xfrm>
          <a:prstGeom prst="rect">
            <a:avLst/>
          </a:prstGeom>
        </p:spPr>
      </p:pic>
      <p:sp>
        <p:nvSpPr>
          <p:cNvPr id="35" name="Text 27"/>
          <p:cNvSpPr/>
          <p:nvPr/>
        </p:nvSpPr>
        <p:spPr>
          <a:xfrm>
            <a:off x="6291072" y="384048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Repeatable Practice</a:t>
            </a:r>
            <a:endParaRPr lang="en-US" sz="1200" dirty="0"/>
          </a:p>
        </p:txBody>
      </p:sp>
      <p:sp>
        <p:nvSpPr>
          <p:cNvPr id="36" name="Text 28"/>
          <p:cNvSpPr/>
          <p:nvPr/>
        </p:nvSpPr>
        <p:spPr>
          <a:xfrm>
            <a:off x="6291072" y="409651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Resettable environment supports iterative, low-risk experimentation.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06</a:t>
            </a:r>
            <a:endParaRPr lang="en-US" sz="800" dirty="0"/>
          </a:p>
        </p:txBody>
      </p:sp>
      <p:sp>
        <p:nvSpPr>
          <p:cNvPr id="4" name="Text 2"/>
          <p:cNvSpPr/>
          <p:nvPr/>
        </p:nvSpPr>
        <p:spPr>
          <a:xfrm>
            <a:off x="548640" y="320040"/>
            <a:ext cx="7315200" cy="256032"/>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UNDER THE HOOD</a:t>
            </a:r>
            <a:endParaRPr lang="en-US" sz="1100" dirty="0"/>
          </a:p>
        </p:txBody>
      </p:sp>
      <p:sp>
        <p:nvSpPr>
          <p:cNvPr id="5" name="Text 3"/>
          <p:cNvSpPr/>
          <p:nvPr/>
        </p:nvSpPr>
        <p:spPr>
          <a:xfrm>
            <a:off x="548640" y="566928"/>
            <a:ext cx="7132320" cy="640080"/>
          </a:xfrm>
          <a:prstGeom prst="rect">
            <a:avLst/>
          </a:prstGeom>
          <a:noFill/>
          <a:ln/>
        </p:spPr>
        <p:txBody>
          <a:bodyPr wrap="square" lIns="0" tIns="0" rIns="0" bIns="0" rtlCol="0" anchor="ctr"/>
          <a:lstStyle/>
          <a:p>
            <a:pPr marL="0" indent="0">
              <a:buNone/>
            </a:pPr>
            <a:r>
              <a:rPr lang="en-US" sz="3000" b="1" dirty="0">
                <a:solidFill>
                  <a:srgbClr val="F1F5F9"/>
                </a:solidFill>
                <a:latin typeface="Cambria" pitchFamily="34" charset="0"/>
                <a:ea typeface="Cambria" pitchFamily="34" charset="-122"/>
                <a:cs typeface="Cambria" pitchFamily="34" charset="-120"/>
              </a:rPr>
              <a:t>DVWA Architecture</a:t>
            </a:r>
            <a:endParaRPr lang="en-US" sz="3000" dirty="0"/>
          </a:p>
        </p:txBody>
      </p:sp>
      <p:sp>
        <p:nvSpPr>
          <p:cNvPr id="6" name="Text 4"/>
          <p:cNvSpPr/>
          <p:nvPr/>
        </p:nvSpPr>
        <p:spPr>
          <a:xfrm>
            <a:off x="548640" y="1170432"/>
            <a:ext cx="7772400" cy="274320"/>
          </a:xfrm>
          <a:prstGeom prst="rect">
            <a:avLst/>
          </a:prstGeom>
          <a:noFill/>
          <a:ln/>
        </p:spPr>
        <p:txBody>
          <a:bodyPr wrap="square" lIns="0" tIns="0" rIns="0" bIns="0" rtlCol="0" anchor="ctr"/>
          <a:lstStyle/>
          <a:p>
            <a:pPr marL="0" indent="0">
              <a:buNone/>
            </a:pPr>
            <a:r>
              <a:rPr lang="en-US" sz="1250" dirty="0">
                <a:solidFill>
                  <a:srgbClr val="9CB0C9"/>
                </a:solidFill>
                <a:latin typeface="Calibri" pitchFamily="34" charset="0"/>
                <a:ea typeface="Calibri" pitchFamily="34" charset="-122"/>
                <a:cs typeface="Calibri" pitchFamily="34" charset="-120"/>
              </a:rPr>
              <a:t>A simple three-tier stack, intentionally configured with weak security controls.</a:t>
            </a:r>
            <a:endParaRPr lang="en-US" sz="1250" dirty="0"/>
          </a:p>
        </p:txBody>
      </p:sp>
      <p:sp>
        <p:nvSpPr>
          <p:cNvPr id="7" name="Shape 5"/>
          <p:cNvSpPr/>
          <p:nvPr/>
        </p:nvSpPr>
        <p:spPr>
          <a:xfrm>
            <a:off x="822960" y="1965960"/>
            <a:ext cx="2331720" cy="1737360"/>
          </a:xfrm>
          <a:prstGeom prst="roundRect">
            <a:avLst>
              <a:gd name="adj" fmla="val 5263"/>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8" name="Shape 6"/>
          <p:cNvSpPr/>
          <p:nvPr/>
        </p:nvSpPr>
        <p:spPr>
          <a:xfrm>
            <a:off x="1714500" y="2194560"/>
            <a:ext cx="548640" cy="548640"/>
          </a:xfrm>
          <a:prstGeom prst="ellipse">
            <a:avLst/>
          </a:prstGeom>
          <a:solidFill>
            <a:srgbClr val="152238"/>
          </a:solidFill>
          <a:ln/>
        </p:spPr>
        <p:txBody>
          <a:bodyPr/>
          <a:lstStyle/>
          <a:p>
            <a:endParaRPr lang="en-GB"/>
          </a:p>
        </p:txBody>
      </p:sp>
      <p:pic>
        <p:nvPicPr>
          <p:cNvPr id="9" name="Image 0" descr="preencoded.png"/>
          <p:cNvPicPr>
            <a:picLocks noChangeAspect="1"/>
          </p:cNvPicPr>
          <p:nvPr/>
        </p:nvPicPr>
        <p:blipFill>
          <a:blip r:embed="rId3"/>
          <a:stretch>
            <a:fillRect/>
          </a:stretch>
        </p:blipFill>
        <p:spPr>
          <a:xfrm>
            <a:off x="1837944" y="2318004"/>
            <a:ext cx="301752" cy="301752"/>
          </a:xfrm>
          <a:prstGeom prst="rect">
            <a:avLst/>
          </a:prstGeom>
        </p:spPr>
      </p:pic>
      <p:sp>
        <p:nvSpPr>
          <p:cNvPr id="10" name="Text 7"/>
          <p:cNvSpPr/>
          <p:nvPr/>
        </p:nvSpPr>
        <p:spPr>
          <a:xfrm>
            <a:off x="960120" y="2880360"/>
            <a:ext cx="2057400" cy="292608"/>
          </a:xfrm>
          <a:prstGeom prst="rect">
            <a:avLst/>
          </a:prstGeom>
          <a:noFill/>
          <a:ln/>
        </p:spPr>
        <p:txBody>
          <a:bodyPr wrap="square" lIns="0" tIns="0" rIns="0" bIns="0" rtlCol="0" anchor="ctr"/>
          <a:lstStyle/>
          <a:p>
            <a:pPr marL="0" indent="0" algn="ctr">
              <a:buNone/>
            </a:pPr>
            <a:r>
              <a:rPr lang="en-US" sz="1250" b="1" dirty="0">
                <a:solidFill>
                  <a:srgbClr val="F1F5F9"/>
                </a:solidFill>
                <a:latin typeface="Calibri" pitchFamily="34" charset="0"/>
                <a:ea typeface="Calibri" pitchFamily="34" charset="-122"/>
                <a:cs typeface="Calibri" pitchFamily="34" charset="-120"/>
              </a:rPr>
              <a:t>Browser</a:t>
            </a:r>
            <a:endParaRPr lang="en-US" sz="1250" dirty="0"/>
          </a:p>
        </p:txBody>
      </p:sp>
      <p:sp>
        <p:nvSpPr>
          <p:cNvPr id="11" name="Text 8"/>
          <p:cNvSpPr/>
          <p:nvPr/>
        </p:nvSpPr>
        <p:spPr>
          <a:xfrm>
            <a:off x="960120" y="3172968"/>
            <a:ext cx="2057400" cy="5029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The client interface used to interact with DVWA's pages and forms.</a:t>
            </a:r>
            <a:endParaRPr lang="en-US" sz="950" dirty="0"/>
          </a:p>
        </p:txBody>
      </p:sp>
      <p:sp>
        <p:nvSpPr>
          <p:cNvPr id="12" name="Shape 9"/>
          <p:cNvSpPr/>
          <p:nvPr/>
        </p:nvSpPr>
        <p:spPr>
          <a:xfrm>
            <a:off x="3209544" y="2706624"/>
            <a:ext cx="384048" cy="256032"/>
          </a:xfrm>
          <a:prstGeom prst="rightArrow">
            <a:avLst/>
          </a:prstGeom>
          <a:solidFill>
            <a:srgbClr val="0891B2"/>
          </a:solidFill>
          <a:ln/>
        </p:spPr>
        <p:txBody>
          <a:bodyPr/>
          <a:lstStyle/>
          <a:p>
            <a:endParaRPr lang="en-GB"/>
          </a:p>
        </p:txBody>
      </p:sp>
      <p:sp>
        <p:nvSpPr>
          <p:cNvPr id="13" name="Shape 10"/>
          <p:cNvSpPr/>
          <p:nvPr/>
        </p:nvSpPr>
        <p:spPr>
          <a:xfrm>
            <a:off x="3657600" y="1965960"/>
            <a:ext cx="2331720" cy="1737360"/>
          </a:xfrm>
          <a:prstGeom prst="roundRect">
            <a:avLst>
              <a:gd name="adj" fmla="val 5263"/>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4" name="Shape 11"/>
          <p:cNvSpPr/>
          <p:nvPr/>
        </p:nvSpPr>
        <p:spPr>
          <a:xfrm>
            <a:off x="4549140" y="2194560"/>
            <a:ext cx="548640" cy="548640"/>
          </a:xfrm>
          <a:prstGeom prst="ellipse">
            <a:avLst/>
          </a:prstGeom>
          <a:solidFill>
            <a:srgbClr val="152238"/>
          </a:solidFill>
          <a:ln/>
        </p:spPr>
        <p:txBody>
          <a:bodyPr/>
          <a:lstStyle/>
          <a:p>
            <a:endParaRPr lang="en-GB"/>
          </a:p>
        </p:txBody>
      </p:sp>
      <p:pic>
        <p:nvPicPr>
          <p:cNvPr id="15" name="Image 1" descr="preencoded.png"/>
          <p:cNvPicPr>
            <a:picLocks noChangeAspect="1"/>
          </p:cNvPicPr>
          <p:nvPr/>
        </p:nvPicPr>
        <p:blipFill>
          <a:blip r:embed="rId4"/>
          <a:stretch>
            <a:fillRect/>
          </a:stretch>
        </p:blipFill>
        <p:spPr>
          <a:xfrm>
            <a:off x="4672584" y="2318004"/>
            <a:ext cx="301752" cy="301752"/>
          </a:xfrm>
          <a:prstGeom prst="rect">
            <a:avLst/>
          </a:prstGeom>
        </p:spPr>
      </p:pic>
      <p:sp>
        <p:nvSpPr>
          <p:cNvPr id="16" name="Text 12"/>
          <p:cNvSpPr/>
          <p:nvPr/>
        </p:nvSpPr>
        <p:spPr>
          <a:xfrm>
            <a:off x="3794760" y="2880360"/>
            <a:ext cx="2057400" cy="292608"/>
          </a:xfrm>
          <a:prstGeom prst="rect">
            <a:avLst/>
          </a:prstGeom>
          <a:noFill/>
          <a:ln/>
        </p:spPr>
        <p:txBody>
          <a:bodyPr wrap="square" lIns="0" tIns="0" rIns="0" bIns="0" rtlCol="0" anchor="ctr"/>
          <a:lstStyle/>
          <a:p>
            <a:pPr marL="0" indent="0" algn="ctr">
              <a:buNone/>
            </a:pPr>
            <a:r>
              <a:rPr lang="en-US" sz="1250" b="1" dirty="0">
                <a:solidFill>
                  <a:srgbClr val="F1F5F9"/>
                </a:solidFill>
                <a:latin typeface="Calibri" pitchFamily="34" charset="0"/>
                <a:ea typeface="Calibri" pitchFamily="34" charset="-122"/>
                <a:cs typeface="Calibri" pitchFamily="34" charset="-120"/>
              </a:rPr>
              <a:t>Web Server (PHP)</a:t>
            </a:r>
            <a:endParaRPr lang="en-US" sz="1250" dirty="0"/>
          </a:p>
        </p:txBody>
      </p:sp>
      <p:sp>
        <p:nvSpPr>
          <p:cNvPr id="17" name="Text 13"/>
          <p:cNvSpPr/>
          <p:nvPr/>
        </p:nvSpPr>
        <p:spPr>
          <a:xfrm>
            <a:off x="3794760" y="3172968"/>
            <a:ext cx="2057400" cy="5029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Apache + PHP process requests and render each vulnerability module.</a:t>
            </a:r>
            <a:endParaRPr lang="en-US" sz="950" dirty="0"/>
          </a:p>
        </p:txBody>
      </p:sp>
      <p:sp>
        <p:nvSpPr>
          <p:cNvPr id="18" name="Shape 14"/>
          <p:cNvSpPr/>
          <p:nvPr/>
        </p:nvSpPr>
        <p:spPr>
          <a:xfrm>
            <a:off x="6044184" y="2706624"/>
            <a:ext cx="384048" cy="256032"/>
          </a:xfrm>
          <a:prstGeom prst="rightArrow">
            <a:avLst/>
          </a:prstGeom>
          <a:solidFill>
            <a:srgbClr val="0891B2"/>
          </a:solidFill>
          <a:ln/>
        </p:spPr>
        <p:txBody>
          <a:bodyPr/>
          <a:lstStyle/>
          <a:p>
            <a:endParaRPr lang="en-GB"/>
          </a:p>
        </p:txBody>
      </p:sp>
      <p:sp>
        <p:nvSpPr>
          <p:cNvPr id="19" name="Shape 15"/>
          <p:cNvSpPr/>
          <p:nvPr/>
        </p:nvSpPr>
        <p:spPr>
          <a:xfrm>
            <a:off x="6492240" y="1965960"/>
            <a:ext cx="2331720" cy="1737360"/>
          </a:xfrm>
          <a:prstGeom prst="roundRect">
            <a:avLst>
              <a:gd name="adj" fmla="val 5263"/>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0" name="Shape 16"/>
          <p:cNvSpPr/>
          <p:nvPr/>
        </p:nvSpPr>
        <p:spPr>
          <a:xfrm>
            <a:off x="7383780" y="2194560"/>
            <a:ext cx="548640" cy="548640"/>
          </a:xfrm>
          <a:prstGeom prst="ellipse">
            <a:avLst/>
          </a:prstGeom>
          <a:solidFill>
            <a:srgbClr val="152238"/>
          </a:solidFill>
          <a:ln/>
        </p:spPr>
        <p:txBody>
          <a:bodyPr/>
          <a:lstStyle/>
          <a:p>
            <a:endParaRPr lang="en-GB"/>
          </a:p>
        </p:txBody>
      </p:sp>
      <p:pic>
        <p:nvPicPr>
          <p:cNvPr id="21" name="Image 2" descr="preencoded.png"/>
          <p:cNvPicPr>
            <a:picLocks noChangeAspect="1"/>
          </p:cNvPicPr>
          <p:nvPr/>
        </p:nvPicPr>
        <p:blipFill>
          <a:blip r:embed="rId5"/>
          <a:stretch>
            <a:fillRect/>
          </a:stretch>
        </p:blipFill>
        <p:spPr>
          <a:xfrm>
            <a:off x="7507224" y="2318004"/>
            <a:ext cx="301752" cy="301752"/>
          </a:xfrm>
          <a:prstGeom prst="rect">
            <a:avLst/>
          </a:prstGeom>
        </p:spPr>
      </p:pic>
      <p:sp>
        <p:nvSpPr>
          <p:cNvPr id="22" name="Text 17"/>
          <p:cNvSpPr/>
          <p:nvPr/>
        </p:nvSpPr>
        <p:spPr>
          <a:xfrm>
            <a:off x="6629400" y="2880360"/>
            <a:ext cx="2057400" cy="292608"/>
          </a:xfrm>
          <a:prstGeom prst="rect">
            <a:avLst/>
          </a:prstGeom>
          <a:noFill/>
          <a:ln/>
        </p:spPr>
        <p:txBody>
          <a:bodyPr wrap="square" lIns="0" tIns="0" rIns="0" bIns="0" rtlCol="0" anchor="ctr"/>
          <a:lstStyle/>
          <a:p>
            <a:pPr marL="0" indent="0" algn="ctr">
              <a:buNone/>
            </a:pPr>
            <a:r>
              <a:rPr lang="en-US" sz="1250" b="1" dirty="0">
                <a:solidFill>
                  <a:srgbClr val="F1F5F9"/>
                </a:solidFill>
                <a:latin typeface="Calibri" pitchFamily="34" charset="0"/>
                <a:ea typeface="Calibri" pitchFamily="34" charset="-122"/>
                <a:cs typeface="Calibri" pitchFamily="34" charset="-120"/>
              </a:rPr>
              <a:t>Database (MySQL)</a:t>
            </a:r>
            <a:endParaRPr lang="en-US" sz="1250" dirty="0"/>
          </a:p>
        </p:txBody>
      </p:sp>
      <p:sp>
        <p:nvSpPr>
          <p:cNvPr id="23" name="Text 18"/>
          <p:cNvSpPr/>
          <p:nvPr/>
        </p:nvSpPr>
        <p:spPr>
          <a:xfrm>
            <a:off x="6629400" y="3172968"/>
            <a:ext cx="2057400" cy="5029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Stores users, sessions, and application data queried by PHP.</a:t>
            </a:r>
            <a:endParaRPr lang="en-US" sz="950" dirty="0"/>
          </a:p>
        </p:txBody>
      </p:sp>
      <p:sp>
        <p:nvSpPr>
          <p:cNvPr id="24" name="Text 19"/>
          <p:cNvSpPr/>
          <p:nvPr/>
        </p:nvSpPr>
        <p:spPr>
          <a:xfrm>
            <a:off x="822960" y="3977640"/>
            <a:ext cx="7315200" cy="457200"/>
          </a:xfrm>
          <a:prstGeom prst="rect">
            <a:avLst/>
          </a:prstGeom>
          <a:noFill/>
          <a:ln/>
        </p:spPr>
        <p:txBody>
          <a:bodyPr wrap="square" lIns="0" tIns="0" rIns="0" bIns="0" rtlCol="0" anchor="ctr"/>
          <a:lstStyle/>
          <a:p>
            <a:pPr marL="0" indent="0">
              <a:buNone/>
            </a:pPr>
            <a:r>
              <a:rPr lang="en-US" sz="1050" i="1" dirty="0">
                <a:solidFill>
                  <a:srgbClr val="9CB0C9"/>
                </a:solidFill>
                <a:latin typeface="Calibri" pitchFamily="34" charset="0"/>
                <a:ea typeface="Calibri" pitchFamily="34" charset="-122"/>
                <a:cs typeface="Calibri" pitchFamily="34" charset="-120"/>
              </a:rPr>
              <a:t>Security Levels (Low / Medium / High / Impossible) sit inside the PHP layer, controlling how strictly each request is validated.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07</a:t>
            </a:r>
            <a:endParaRPr lang="en-US" sz="800" dirty="0"/>
          </a:p>
        </p:txBody>
      </p:sp>
      <p:sp>
        <p:nvSpPr>
          <p:cNvPr id="4" name="Text 2"/>
          <p:cNvSpPr/>
          <p:nvPr/>
        </p:nvSpPr>
        <p:spPr>
          <a:xfrm>
            <a:off x="548640" y="320040"/>
            <a:ext cx="7315200" cy="256032"/>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DIFFICULTY TIERS</a:t>
            </a:r>
            <a:endParaRPr lang="en-US" sz="1100" dirty="0"/>
          </a:p>
        </p:txBody>
      </p:sp>
      <p:sp>
        <p:nvSpPr>
          <p:cNvPr id="5" name="Text 3"/>
          <p:cNvSpPr/>
          <p:nvPr/>
        </p:nvSpPr>
        <p:spPr>
          <a:xfrm>
            <a:off x="548640" y="566928"/>
            <a:ext cx="7132320" cy="640080"/>
          </a:xfrm>
          <a:prstGeom prst="rect">
            <a:avLst/>
          </a:prstGeom>
          <a:noFill/>
          <a:ln/>
        </p:spPr>
        <p:txBody>
          <a:bodyPr wrap="square" lIns="0" tIns="0" rIns="0" bIns="0" rtlCol="0" anchor="ctr"/>
          <a:lstStyle/>
          <a:p>
            <a:pPr marL="0" indent="0">
              <a:buNone/>
            </a:pPr>
            <a:r>
              <a:rPr lang="en-US" sz="3000" b="1" dirty="0">
                <a:solidFill>
                  <a:srgbClr val="F1F5F9"/>
                </a:solidFill>
                <a:latin typeface="Cambria" pitchFamily="34" charset="0"/>
                <a:ea typeface="Cambria" pitchFamily="34" charset="-122"/>
                <a:cs typeface="Cambria" pitchFamily="34" charset="-120"/>
              </a:rPr>
              <a:t>Security Levels in DVWA</a:t>
            </a:r>
            <a:endParaRPr lang="en-US" sz="3000" dirty="0"/>
          </a:p>
        </p:txBody>
      </p:sp>
      <p:sp>
        <p:nvSpPr>
          <p:cNvPr id="6" name="Text 4"/>
          <p:cNvSpPr/>
          <p:nvPr/>
        </p:nvSpPr>
        <p:spPr>
          <a:xfrm>
            <a:off x="548640" y="1170432"/>
            <a:ext cx="7772400" cy="274320"/>
          </a:xfrm>
          <a:prstGeom prst="rect">
            <a:avLst/>
          </a:prstGeom>
          <a:noFill/>
          <a:ln/>
        </p:spPr>
        <p:txBody>
          <a:bodyPr wrap="square" lIns="0" tIns="0" rIns="0" bIns="0" rtlCol="0" anchor="ctr"/>
          <a:lstStyle/>
          <a:p>
            <a:pPr marL="0" indent="0">
              <a:buNone/>
            </a:pPr>
            <a:r>
              <a:rPr lang="en-US" sz="1250" dirty="0">
                <a:solidFill>
                  <a:srgbClr val="9CB0C9"/>
                </a:solidFill>
                <a:latin typeface="Calibri" pitchFamily="34" charset="0"/>
                <a:ea typeface="Calibri" pitchFamily="34" charset="-122"/>
                <a:cs typeface="Calibri" pitchFamily="34" charset="-120"/>
              </a:rPr>
              <a:t>The same vulnerability, shown at four escalating levels of code-level protection.</a:t>
            </a:r>
            <a:endParaRPr lang="en-US" sz="1250" dirty="0"/>
          </a:p>
        </p:txBody>
      </p:sp>
      <p:sp>
        <p:nvSpPr>
          <p:cNvPr id="7" name="Shape 5"/>
          <p:cNvSpPr/>
          <p:nvPr/>
        </p:nvSpPr>
        <p:spPr>
          <a:xfrm>
            <a:off x="548640" y="1691640"/>
            <a:ext cx="1883664" cy="2880360"/>
          </a:xfrm>
          <a:prstGeom prst="roundRect">
            <a:avLst>
              <a:gd name="adj" fmla="val 4854"/>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8" name="Shape 6"/>
          <p:cNvSpPr/>
          <p:nvPr/>
        </p:nvSpPr>
        <p:spPr>
          <a:xfrm>
            <a:off x="1239012" y="1920240"/>
            <a:ext cx="502920" cy="502920"/>
          </a:xfrm>
          <a:prstGeom prst="ellipse">
            <a:avLst/>
          </a:prstGeom>
          <a:solidFill>
            <a:srgbClr val="152238"/>
          </a:solidFill>
          <a:ln/>
        </p:spPr>
        <p:txBody>
          <a:bodyPr/>
          <a:lstStyle/>
          <a:p>
            <a:endParaRPr lang="en-GB"/>
          </a:p>
        </p:txBody>
      </p:sp>
      <p:pic>
        <p:nvPicPr>
          <p:cNvPr id="9" name="Image 0" descr="preencoded.png"/>
          <p:cNvPicPr>
            <a:picLocks noChangeAspect="1"/>
          </p:cNvPicPr>
          <p:nvPr/>
        </p:nvPicPr>
        <p:blipFill>
          <a:blip r:embed="rId3"/>
          <a:stretch>
            <a:fillRect/>
          </a:stretch>
        </p:blipFill>
        <p:spPr>
          <a:xfrm>
            <a:off x="1352169" y="2033397"/>
            <a:ext cx="276606" cy="276606"/>
          </a:xfrm>
          <a:prstGeom prst="rect">
            <a:avLst/>
          </a:prstGeom>
        </p:spPr>
      </p:pic>
      <p:sp>
        <p:nvSpPr>
          <p:cNvPr id="10" name="Text 7"/>
          <p:cNvSpPr/>
          <p:nvPr/>
        </p:nvSpPr>
        <p:spPr>
          <a:xfrm>
            <a:off x="640080" y="2560320"/>
            <a:ext cx="1700784" cy="320040"/>
          </a:xfrm>
          <a:prstGeom prst="rect">
            <a:avLst/>
          </a:prstGeom>
          <a:noFill/>
          <a:ln/>
        </p:spPr>
        <p:txBody>
          <a:bodyPr wrap="square" lIns="0" tIns="0" rIns="0" bIns="0" rtlCol="0" anchor="ctr"/>
          <a:lstStyle/>
          <a:p>
            <a:pPr marL="0" indent="0" algn="ctr">
              <a:buNone/>
            </a:pPr>
            <a:r>
              <a:rPr lang="en-US" sz="1450" b="1" dirty="0">
                <a:solidFill>
                  <a:srgbClr val="F1F5F9"/>
                </a:solidFill>
                <a:latin typeface="Calibri" pitchFamily="34" charset="0"/>
                <a:ea typeface="Calibri" pitchFamily="34" charset="-122"/>
                <a:cs typeface="Calibri" pitchFamily="34" charset="-120"/>
              </a:rPr>
              <a:t>Low</a:t>
            </a:r>
            <a:endParaRPr lang="en-US" sz="1450" dirty="0"/>
          </a:p>
        </p:txBody>
      </p:sp>
      <p:sp>
        <p:nvSpPr>
          <p:cNvPr id="11" name="Shape 8"/>
          <p:cNvSpPr/>
          <p:nvPr/>
        </p:nvSpPr>
        <p:spPr>
          <a:xfrm>
            <a:off x="777240" y="2971800"/>
            <a:ext cx="356616" cy="91440"/>
          </a:xfrm>
          <a:prstGeom prst="rect">
            <a:avLst/>
          </a:prstGeom>
          <a:solidFill>
            <a:srgbClr val="22D3EE"/>
          </a:solidFill>
          <a:ln/>
        </p:spPr>
        <p:txBody>
          <a:bodyPr/>
          <a:lstStyle/>
          <a:p>
            <a:endParaRPr lang="en-GB"/>
          </a:p>
        </p:txBody>
      </p:sp>
      <p:sp>
        <p:nvSpPr>
          <p:cNvPr id="12" name="Shape 9"/>
          <p:cNvSpPr/>
          <p:nvPr/>
        </p:nvSpPr>
        <p:spPr>
          <a:xfrm>
            <a:off x="1188720" y="2971800"/>
            <a:ext cx="356616" cy="91440"/>
          </a:xfrm>
          <a:prstGeom prst="rect">
            <a:avLst/>
          </a:prstGeom>
          <a:solidFill>
            <a:srgbClr val="233047"/>
          </a:solidFill>
          <a:ln/>
        </p:spPr>
        <p:txBody>
          <a:bodyPr/>
          <a:lstStyle/>
          <a:p>
            <a:endParaRPr lang="en-GB"/>
          </a:p>
        </p:txBody>
      </p:sp>
      <p:sp>
        <p:nvSpPr>
          <p:cNvPr id="13" name="Shape 10"/>
          <p:cNvSpPr/>
          <p:nvPr/>
        </p:nvSpPr>
        <p:spPr>
          <a:xfrm>
            <a:off x="1600200" y="2971800"/>
            <a:ext cx="356616" cy="91440"/>
          </a:xfrm>
          <a:prstGeom prst="rect">
            <a:avLst/>
          </a:prstGeom>
          <a:solidFill>
            <a:srgbClr val="233047"/>
          </a:solidFill>
          <a:ln/>
        </p:spPr>
        <p:txBody>
          <a:bodyPr/>
          <a:lstStyle/>
          <a:p>
            <a:endParaRPr lang="en-GB"/>
          </a:p>
        </p:txBody>
      </p:sp>
      <p:sp>
        <p:nvSpPr>
          <p:cNvPr id="14" name="Shape 11"/>
          <p:cNvSpPr/>
          <p:nvPr/>
        </p:nvSpPr>
        <p:spPr>
          <a:xfrm>
            <a:off x="2011680" y="2971800"/>
            <a:ext cx="356616" cy="91440"/>
          </a:xfrm>
          <a:prstGeom prst="rect">
            <a:avLst/>
          </a:prstGeom>
          <a:solidFill>
            <a:srgbClr val="233047"/>
          </a:solidFill>
          <a:ln/>
        </p:spPr>
        <p:txBody>
          <a:bodyPr/>
          <a:lstStyle/>
          <a:p>
            <a:endParaRPr lang="en-GB"/>
          </a:p>
        </p:txBody>
      </p:sp>
      <p:sp>
        <p:nvSpPr>
          <p:cNvPr id="15" name="Text 12"/>
          <p:cNvSpPr/>
          <p:nvPr/>
        </p:nvSpPr>
        <p:spPr>
          <a:xfrm>
            <a:off x="694944" y="3246120"/>
            <a:ext cx="1591056" cy="11887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No input validation or filtering — vulnerabilities are fully exposed.</a:t>
            </a:r>
            <a:endParaRPr lang="en-US" sz="950" dirty="0"/>
          </a:p>
        </p:txBody>
      </p:sp>
      <p:sp>
        <p:nvSpPr>
          <p:cNvPr id="16" name="Shape 13"/>
          <p:cNvSpPr/>
          <p:nvPr/>
        </p:nvSpPr>
        <p:spPr>
          <a:xfrm>
            <a:off x="2578608" y="1691640"/>
            <a:ext cx="1883664" cy="2880360"/>
          </a:xfrm>
          <a:prstGeom prst="roundRect">
            <a:avLst>
              <a:gd name="adj" fmla="val 4854"/>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7" name="Shape 14"/>
          <p:cNvSpPr/>
          <p:nvPr/>
        </p:nvSpPr>
        <p:spPr>
          <a:xfrm>
            <a:off x="3268980" y="1920240"/>
            <a:ext cx="502920" cy="502920"/>
          </a:xfrm>
          <a:prstGeom prst="ellipse">
            <a:avLst/>
          </a:prstGeom>
          <a:solidFill>
            <a:srgbClr val="152238"/>
          </a:solidFill>
          <a:ln/>
        </p:spPr>
        <p:txBody>
          <a:bodyPr/>
          <a:lstStyle/>
          <a:p>
            <a:endParaRPr lang="en-GB"/>
          </a:p>
        </p:txBody>
      </p:sp>
      <p:pic>
        <p:nvPicPr>
          <p:cNvPr id="18" name="Image 1" descr="preencoded.png"/>
          <p:cNvPicPr>
            <a:picLocks noChangeAspect="1"/>
          </p:cNvPicPr>
          <p:nvPr/>
        </p:nvPicPr>
        <p:blipFill>
          <a:blip r:embed="rId4"/>
          <a:stretch>
            <a:fillRect/>
          </a:stretch>
        </p:blipFill>
        <p:spPr>
          <a:xfrm>
            <a:off x="3382137" y="2033397"/>
            <a:ext cx="276606" cy="276606"/>
          </a:xfrm>
          <a:prstGeom prst="rect">
            <a:avLst/>
          </a:prstGeom>
        </p:spPr>
      </p:pic>
      <p:sp>
        <p:nvSpPr>
          <p:cNvPr id="19" name="Text 15"/>
          <p:cNvSpPr/>
          <p:nvPr/>
        </p:nvSpPr>
        <p:spPr>
          <a:xfrm>
            <a:off x="2670048" y="2560320"/>
            <a:ext cx="1700784" cy="320040"/>
          </a:xfrm>
          <a:prstGeom prst="rect">
            <a:avLst/>
          </a:prstGeom>
          <a:noFill/>
          <a:ln/>
        </p:spPr>
        <p:txBody>
          <a:bodyPr wrap="square" lIns="0" tIns="0" rIns="0" bIns="0" rtlCol="0" anchor="ctr"/>
          <a:lstStyle/>
          <a:p>
            <a:pPr marL="0" indent="0" algn="ctr">
              <a:buNone/>
            </a:pPr>
            <a:r>
              <a:rPr lang="en-US" sz="1450" b="1" dirty="0">
                <a:solidFill>
                  <a:srgbClr val="F1F5F9"/>
                </a:solidFill>
                <a:latin typeface="Calibri" pitchFamily="34" charset="0"/>
                <a:ea typeface="Calibri" pitchFamily="34" charset="-122"/>
                <a:cs typeface="Calibri" pitchFamily="34" charset="-120"/>
              </a:rPr>
              <a:t>Medium</a:t>
            </a:r>
            <a:endParaRPr lang="en-US" sz="1450" dirty="0"/>
          </a:p>
        </p:txBody>
      </p:sp>
      <p:sp>
        <p:nvSpPr>
          <p:cNvPr id="20" name="Shape 16"/>
          <p:cNvSpPr/>
          <p:nvPr/>
        </p:nvSpPr>
        <p:spPr>
          <a:xfrm>
            <a:off x="2807208" y="2971800"/>
            <a:ext cx="356616" cy="91440"/>
          </a:xfrm>
          <a:prstGeom prst="rect">
            <a:avLst/>
          </a:prstGeom>
          <a:solidFill>
            <a:srgbClr val="F5A623"/>
          </a:solidFill>
          <a:ln/>
        </p:spPr>
        <p:txBody>
          <a:bodyPr/>
          <a:lstStyle/>
          <a:p>
            <a:endParaRPr lang="en-GB"/>
          </a:p>
        </p:txBody>
      </p:sp>
      <p:sp>
        <p:nvSpPr>
          <p:cNvPr id="21" name="Shape 17"/>
          <p:cNvSpPr/>
          <p:nvPr/>
        </p:nvSpPr>
        <p:spPr>
          <a:xfrm>
            <a:off x="3218688" y="2971800"/>
            <a:ext cx="356616" cy="91440"/>
          </a:xfrm>
          <a:prstGeom prst="rect">
            <a:avLst/>
          </a:prstGeom>
          <a:solidFill>
            <a:srgbClr val="F5A623"/>
          </a:solidFill>
          <a:ln/>
        </p:spPr>
        <p:txBody>
          <a:bodyPr/>
          <a:lstStyle/>
          <a:p>
            <a:endParaRPr lang="en-GB"/>
          </a:p>
        </p:txBody>
      </p:sp>
      <p:sp>
        <p:nvSpPr>
          <p:cNvPr id="22" name="Shape 18"/>
          <p:cNvSpPr/>
          <p:nvPr/>
        </p:nvSpPr>
        <p:spPr>
          <a:xfrm>
            <a:off x="3630168" y="2971800"/>
            <a:ext cx="356616" cy="91440"/>
          </a:xfrm>
          <a:prstGeom prst="rect">
            <a:avLst/>
          </a:prstGeom>
          <a:solidFill>
            <a:srgbClr val="233047"/>
          </a:solidFill>
          <a:ln/>
        </p:spPr>
        <p:txBody>
          <a:bodyPr/>
          <a:lstStyle/>
          <a:p>
            <a:endParaRPr lang="en-GB"/>
          </a:p>
        </p:txBody>
      </p:sp>
      <p:sp>
        <p:nvSpPr>
          <p:cNvPr id="23" name="Shape 19"/>
          <p:cNvSpPr/>
          <p:nvPr/>
        </p:nvSpPr>
        <p:spPr>
          <a:xfrm>
            <a:off x="4041648" y="2971800"/>
            <a:ext cx="356616" cy="91440"/>
          </a:xfrm>
          <a:prstGeom prst="rect">
            <a:avLst/>
          </a:prstGeom>
          <a:solidFill>
            <a:srgbClr val="233047"/>
          </a:solidFill>
          <a:ln/>
        </p:spPr>
        <p:txBody>
          <a:bodyPr/>
          <a:lstStyle/>
          <a:p>
            <a:endParaRPr lang="en-GB"/>
          </a:p>
        </p:txBody>
      </p:sp>
      <p:sp>
        <p:nvSpPr>
          <p:cNvPr id="24" name="Text 20"/>
          <p:cNvSpPr/>
          <p:nvPr/>
        </p:nvSpPr>
        <p:spPr>
          <a:xfrm>
            <a:off x="2724912" y="3246120"/>
            <a:ext cx="1591056" cy="11887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Basic filtering is applied but can still be bypassed.</a:t>
            </a:r>
            <a:endParaRPr lang="en-US" sz="950" dirty="0"/>
          </a:p>
        </p:txBody>
      </p:sp>
      <p:sp>
        <p:nvSpPr>
          <p:cNvPr id="25" name="Shape 21"/>
          <p:cNvSpPr/>
          <p:nvPr/>
        </p:nvSpPr>
        <p:spPr>
          <a:xfrm>
            <a:off x="4608576" y="1691640"/>
            <a:ext cx="1883664" cy="2880360"/>
          </a:xfrm>
          <a:prstGeom prst="roundRect">
            <a:avLst>
              <a:gd name="adj" fmla="val 4854"/>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6" name="Shape 22"/>
          <p:cNvSpPr/>
          <p:nvPr/>
        </p:nvSpPr>
        <p:spPr>
          <a:xfrm>
            <a:off x="5298948" y="1920240"/>
            <a:ext cx="502920" cy="502920"/>
          </a:xfrm>
          <a:prstGeom prst="ellipse">
            <a:avLst/>
          </a:prstGeom>
          <a:solidFill>
            <a:srgbClr val="152238"/>
          </a:solidFill>
          <a:ln/>
        </p:spPr>
        <p:txBody>
          <a:bodyPr/>
          <a:lstStyle/>
          <a:p>
            <a:endParaRPr lang="en-GB"/>
          </a:p>
        </p:txBody>
      </p:sp>
      <p:pic>
        <p:nvPicPr>
          <p:cNvPr id="27" name="Image 2" descr="preencoded.png"/>
          <p:cNvPicPr>
            <a:picLocks noChangeAspect="1"/>
          </p:cNvPicPr>
          <p:nvPr/>
        </p:nvPicPr>
        <p:blipFill>
          <a:blip r:embed="rId5"/>
          <a:stretch>
            <a:fillRect/>
          </a:stretch>
        </p:blipFill>
        <p:spPr>
          <a:xfrm>
            <a:off x="5412105" y="2033397"/>
            <a:ext cx="276606" cy="276606"/>
          </a:xfrm>
          <a:prstGeom prst="rect">
            <a:avLst/>
          </a:prstGeom>
        </p:spPr>
      </p:pic>
      <p:sp>
        <p:nvSpPr>
          <p:cNvPr id="28" name="Text 23"/>
          <p:cNvSpPr/>
          <p:nvPr/>
        </p:nvSpPr>
        <p:spPr>
          <a:xfrm>
            <a:off x="4700016" y="2560320"/>
            <a:ext cx="1700784" cy="320040"/>
          </a:xfrm>
          <a:prstGeom prst="rect">
            <a:avLst/>
          </a:prstGeom>
          <a:noFill/>
          <a:ln/>
        </p:spPr>
        <p:txBody>
          <a:bodyPr wrap="square" lIns="0" tIns="0" rIns="0" bIns="0" rtlCol="0" anchor="ctr"/>
          <a:lstStyle/>
          <a:p>
            <a:pPr marL="0" indent="0" algn="ctr">
              <a:buNone/>
            </a:pPr>
            <a:r>
              <a:rPr lang="en-US" sz="1450" b="1" dirty="0">
                <a:solidFill>
                  <a:srgbClr val="F1F5F9"/>
                </a:solidFill>
                <a:latin typeface="Calibri" pitchFamily="34" charset="0"/>
                <a:ea typeface="Calibri" pitchFamily="34" charset="-122"/>
                <a:cs typeface="Calibri" pitchFamily="34" charset="-120"/>
              </a:rPr>
              <a:t>High</a:t>
            </a:r>
            <a:endParaRPr lang="en-US" sz="1450" dirty="0"/>
          </a:p>
        </p:txBody>
      </p:sp>
      <p:sp>
        <p:nvSpPr>
          <p:cNvPr id="29" name="Shape 24"/>
          <p:cNvSpPr/>
          <p:nvPr/>
        </p:nvSpPr>
        <p:spPr>
          <a:xfrm>
            <a:off x="4837176" y="2971800"/>
            <a:ext cx="356616" cy="91440"/>
          </a:xfrm>
          <a:prstGeom prst="rect">
            <a:avLst/>
          </a:prstGeom>
          <a:solidFill>
            <a:srgbClr val="FB923C"/>
          </a:solidFill>
          <a:ln/>
        </p:spPr>
        <p:txBody>
          <a:bodyPr/>
          <a:lstStyle/>
          <a:p>
            <a:endParaRPr lang="en-GB"/>
          </a:p>
        </p:txBody>
      </p:sp>
      <p:sp>
        <p:nvSpPr>
          <p:cNvPr id="30" name="Shape 25"/>
          <p:cNvSpPr/>
          <p:nvPr/>
        </p:nvSpPr>
        <p:spPr>
          <a:xfrm>
            <a:off x="5248656" y="2971800"/>
            <a:ext cx="356616" cy="91440"/>
          </a:xfrm>
          <a:prstGeom prst="rect">
            <a:avLst/>
          </a:prstGeom>
          <a:solidFill>
            <a:srgbClr val="FB923C"/>
          </a:solidFill>
          <a:ln/>
        </p:spPr>
        <p:txBody>
          <a:bodyPr/>
          <a:lstStyle/>
          <a:p>
            <a:endParaRPr lang="en-GB"/>
          </a:p>
        </p:txBody>
      </p:sp>
      <p:sp>
        <p:nvSpPr>
          <p:cNvPr id="31" name="Shape 26"/>
          <p:cNvSpPr/>
          <p:nvPr/>
        </p:nvSpPr>
        <p:spPr>
          <a:xfrm>
            <a:off x="5660136" y="2971800"/>
            <a:ext cx="356616" cy="91440"/>
          </a:xfrm>
          <a:prstGeom prst="rect">
            <a:avLst/>
          </a:prstGeom>
          <a:solidFill>
            <a:srgbClr val="FB923C"/>
          </a:solidFill>
          <a:ln/>
        </p:spPr>
        <p:txBody>
          <a:bodyPr/>
          <a:lstStyle/>
          <a:p>
            <a:endParaRPr lang="en-GB"/>
          </a:p>
        </p:txBody>
      </p:sp>
      <p:sp>
        <p:nvSpPr>
          <p:cNvPr id="32" name="Shape 27"/>
          <p:cNvSpPr/>
          <p:nvPr/>
        </p:nvSpPr>
        <p:spPr>
          <a:xfrm>
            <a:off x="6071616" y="2971800"/>
            <a:ext cx="356616" cy="91440"/>
          </a:xfrm>
          <a:prstGeom prst="rect">
            <a:avLst/>
          </a:prstGeom>
          <a:solidFill>
            <a:srgbClr val="233047"/>
          </a:solidFill>
          <a:ln/>
        </p:spPr>
        <p:txBody>
          <a:bodyPr/>
          <a:lstStyle/>
          <a:p>
            <a:endParaRPr lang="en-GB"/>
          </a:p>
        </p:txBody>
      </p:sp>
      <p:sp>
        <p:nvSpPr>
          <p:cNvPr id="33" name="Text 28"/>
          <p:cNvSpPr/>
          <p:nvPr/>
        </p:nvSpPr>
        <p:spPr>
          <a:xfrm>
            <a:off x="4754880" y="3246120"/>
            <a:ext cx="1591056" cy="11887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Stronger validation and coding practices; harder to exploit.</a:t>
            </a:r>
            <a:endParaRPr lang="en-US" sz="950" dirty="0"/>
          </a:p>
        </p:txBody>
      </p:sp>
      <p:sp>
        <p:nvSpPr>
          <p:cNvPr id="34" name="Shape 29"/>
          <p:cNvSpPr/>
          <p:nvPr/>
        </p:nvSpPr>
        <p:spPr>
          <a:xfrm>
            <a:off x="6638544" y="1691640"/>
            <a:ext cx="1883664" cy="2880360"/>
          </a:xfrm>
          <a:prstGeom prst="roundRect">
            <a:avLst>
              <a:gd name="adj" fmla="val 4854"/>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35" name="Shape 30"/>
          <p:cNvSpPr/>
          <p:nvPr/>
        </p:nvSpPr>
        <p:spPr>
          <a:xfrm>
            <a:off x="7328916" y="1920240"/>
            <a:ext cx="502920" cy="502920"/>
          </a:xfrm>
          <a:prstGeom prst="ellipse">
            <a:avLst/>
          </a:prstGeom>
          <a:solidFill>
            <a:srgbClr val="152238"/>
          </a:solidFill>
          <a:ln/>
        </p:spPr>
        <p:txBody>
          <a:bodyPr/>
          <a:lstStyle/>
          <a:p>
            <a:endParaRPr lang="en-GB"/>
          </a:p>
        </p:txBody>
      </p:sp>
      <p:pic>
        <p:nvPicPr>
          <p:cNvPr id="36" name="Image 3" descr="preencoded.png"/>
          <p:cNvPicPr>
            <a:picLocks noChangeAspect="1"/>
          </p:cNvPicPr>
          <p:nvPr/>
        </p:nvPicPr>
        <p:blipFill>
          <a:blip r:embed="rId6"/>
          <a:stretch>
            <a:fillRect/>
          </a:stretch>
        </p:blipFill>
        <p:spPr>
          <a:xfrm>
            <a:off x="7442073" y="2033397"/>
            <a:ext cx="276606" cy="276606"/>
          </a:xfrm>
          <a:prstGeom prst="rect">
            <a:avLst/>
          </a:prstGeom>
        </p:spPr>
      </p:pic>
      <p:sp>
        <p:nvSpPr>
          <p:cNvPr id="37" name="Text 31"/>
          <p:cNvSpPr/>
          <p:nvPr/>
        </p:nvSpPr>
        <p:spPr>
          <a:xfrm>
            <a:off x="6729984" y="2560320"/>
            <a:ext cx="1700784" cy="320040"/>
          </a:xfrm>
          <a:prstGeom prst="rect">
            <a:avLst/>
          </a:prstGeom>
          <a:noFill/>
          <a:ln/>
        </p:spPr>
        <p:txBody>
          <a:bodyPr wrap="square" lIns="0" tIns="0" rIns="0" bIns="0" rtlCol="0" anchor="ctr"/>
          <a:lstStyle/>
          <a:p>
            <a:pPr marL="0" indent="0" algn="ctr">
              <a:buNone/>
            </a:pPr>
            <a:r>
              <a:rPr lang="en-US" sz="1450" b="1" dirty="0">
                <a:solidFill>
                  <a:srgbClr val="F1F5F9"/>
                </a:solidFill>
                <a:latin typeface="Calibri" pitchFamily="34" charset="0"/>
                <a:ea typeface="Calibri" pitchFamily="34" charset="-122"/>
                <a:cs typeface="Calibri" pitchFamily="34" charset="-120"/>
              </a:rPr>
              <a:t>Impossible</a:t>
            </a:r>
            <a:endParaRPr lang="en-US" sz="1450" dirty="0"/>
          </a:p>
        </p:txBody>
      </p:sp>
      <p:sp>
        <p:nvSpPr>
          <p:cNvPr id="38" name="Shape 32"/>
          <p:cNvSpPr/>
          <p:nvPr/>
        </p:nvSpPr>
        <p:spPr>
          <a:xfrm>
            <a:off x="6867144" y="2971800"/>
            <a:ext cx="356616" cy="91440"/>
          </a:xfrm>
          <a:prstGeom prst="rect">
            <a:avLst/>
          </a:prstGeom>
          <a:solidFill>
            <a:srgbClr val="34D399"/>
          </a:solidFill>
          <a:ln/>
        </p:spPr>
        <p:txBody>
          <a:bodyPr/>
          <a:lstStyle/>
          <a:p>
            <a:endParaRPr lang="en-GB"/>
          </a:p>
        </p:txBody>
      </p:sp>
      <p:sp>
        <p:nvSpPr>
          <p:cNvPr id="39" name="Shape 33"/>
          <p:cNvSpPr/>
          <p:nvPr/>
        </p:nvSpPr>
        <p:spPr>
          <a:xfrm>
            <a:off x="7278624" y="2971800"/>
            <a:ext cx="356616" cy="91440"/>
          </a:xfrm>
          <a:prstGeom prst="rect">
            <a:avLst/>
          </a:prstGeom>
          <a:solidFill>
            <a:srgbClr val="34D399"/>
          </a:solidFill>
          <a:ln/>
        </p:spPr>
        <p:txBody>
          <a:bodyPr/>
          <a:lstStyle/>
          <a:p>
            <a:endParaRPr lang="en-GB"/>
          </a:p>
        </p:txBody>
      </p:sp>
      <p:sp>
        <p:nvSpPr>
          <p:cNvPr id="40" name="Shape 34"/>
          <p:cNvSpPr/>
          <p:nvPr/>
        </p:nvSpPr>
        <p:spPr>
          <a:xfrm>
            <a:off x="7690104" y="2971800"/>
            <a:ext cx="356616" cy="91440"/>
          </a:xfrm>
          <a:prstGeom prst="rect">
            <a:avLst/>
          </a:prstGeom>
          <a:solidFill>
            <a:srgbClr val="34D399"/>
          </a:solidFill>
          <a:ln/>
        </p:spPr>
        <p:txBody>
          <a:bodyPr/>
          <a:lstStyle/>
          <a:p>
            <a:endParaRPr lang="en-GB"/>
          </a:p>
        </p:txBody>
      </p:sp>
      <p:sp>
        <p:nvSpPr>
          <p:cNvPr id="41" name="Shape 35"/>
          <p:cNvSpPr/>
          <p:nvPr/>
        </p:nvSpPr>
        <p:spPr>
          <a:xfrm>
            <a:off x="8101584" y="2971800"/>
            <a:ext cx="356616" cy="91440"/>
          </a:xfrm>
          <a:prstGeom prst="rect">
            <a:avLst/>
          </a:prstGeom>
          <a:solidFill>
            <a:srgbClr val="34D399"/>
          </a:solidFill>
          <a:ln/>
        </p:spPr>
        <p:txBody>
          <a:bodyPr/>
          <a:lstStyle/>
          <a:p>
            <a:endParaRPr lang="en-GB"/>
          </a:p>
        </p:txBody>
      </p:sp>
      <p:sp>
        <p:nvSpPr>
          <p:cNvPr id="42" name="Text 36"/>
          <p:cNvSpPr/>
          <p:nvPr/>
        </p:nvSpPr>
        <p:spPr>
          <a:xfrm>
            <a:off x="6784848" y="3246120"/>
            <a:ext cx="1591056" cy="11887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Secure coding standards applied — the vulnerability is fully mitigated.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08</a:t>
            </a:r>
            <a:endParaRPr lang="en-US" sz="800" dirty="0"/>
          </a:p>
        </p:txBody>
      </p:sp>
      <p:sp>
        <p:nvSpPr>
          <p:cNvPr id="4" name="Text 2"/>
          <p:cNvSpPr/>
          <p:nvPr/>
        </p:nvSpPr>
        <p:spPr>
          <a:xfrm>
            <a:off x="548640" y="320040"/>
            <a:ext cx="7315200" cy="256032"/>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SECTION TRANSITION</a:t>
            </a:r>
            <a:endParaRPr lang="en-US" sz="1100" dirty="0"/>
          </a:p>
        </p:txBody>
      </p:sp>
      <p:sp>
        <p:nvSpPr>
          <p:cNvPr id="5" name="Text 3"/>
          <p:cNvSpPr/>
          <p:nvPr/>
        </p:nvSpPr>
        <p:spPr>
          <a:xfrm>
            <a:off x="548640" y="566928"/>
            <a:ext cx="7132320" cy="640080"/>
          </a:xfrm>
          <a:prstGeom prst="rect">
            <a:avLst/>
          </a:prstGeom>
          <a:noFill/>
          <a:ln/>
        </p:spPr>
        <p:txBody>
          <a:bodyPr wrap="square" lIns="0" tIns="0" rIns="0" bIns="0" rtlCol="0" anchor="ctr"/>
          <a:lstStyle/>
          <a:p>
            <a:pPr marL="0" indent="0">
              <a:buNone/>
            </a:pPr>
            <a:r>
              <a:rPr lang="en-US" sz="3000" b="1" dirty="0">
                <a:solidFill>
                  <a:srgbClr val="F1F5F9"/>
                </a:solidFill>
                <a:latin typeface="Cambria" pitchFamily="34" charset="0"/>
                <a:ea typeface="Cambria" pitchFamily="34" charset="-122"/>
                <a:cs typeface="Cambria" pitchFamily="34" charset="-120"/>
              </a:rPr>
              <a:t>Demonstration Overview</a:t>
            </a:r>
            <a:endParaRPr lang="en-US" sz="3000" dirty="0"/>
          </a:p>
        </p:txBody>
      </p:sp>
      <p:sp>
        <p:nvSpPr>
          <p:cNvPr id="6" name="Text 4"/>
          <p:cNvSpPr/>
          <p:nvPr/>
        </p:nvSpPr>
        <p:spPr>
          <a:xfrm>
            <a:off x="548640" y="1170432"/>
            <a:ext cx="7955280" cy="502920"/>
          </a:xfrm>
          <a:prstGeom prst="rect">
            <a:avLst/>
          </a:prstGeom>
          <a:noFill/>
          <a:ln/>
        </p:spPr>
        <p:txBody>
          <a:bodyPr wrap="square" lIns="0" tIns="0" rIns="0" bIns="0" rtlCol="0" anchor="ctr"/>
          <a:lstStyle/>
          <a:p>
            <a:pPr marL="0" indent="0">
              <a:lnSpc>
                <a:spcPct val="110000"/>
              </a:lnSpc>
              <a:buNone/>
            </a:pPr>
            <a:r>
              <a:rPr lang="en-US" sz="1250" dirty="0">
                <a:solidFill>
                  <a:srgbClr val="9CB0C9"/>
                </a:solidFill>
                <a:latin typeface="Calibri" pitchFamily="34" charset="0"/>
                <a:ea typeface="Calibri" pitchFamily="34" charset="-122"/>
                <a:cs typeface="Calibri" pitchFamily="34" charset="-120"/>
              </a:rPr>
              <a:t>With the environment and difficulty levels in place, we now walk through 18 vulnerability categories — covering how each one works, why it matters, and how to defend against it.</a:t>
            </a:r>
            <a:endParaRPr lang="en-US" sz="1250" dirty="0"/>
          </a:p>
        </p:txBody>
      </p:sp>
      <p:sp>
        <p:nvSpPr>
          <p:cNvPr id="7" name="Shape 5"/>
          <p:cNvSpPr/>
          <p:nvPr/>
        </p:nvSpPr>
        <p:spPr>
          <a:xfrm>
            <a:off x="548640" y="181051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8" name="Text 6"/>
          <p:cNvSpPr/>
          <p:nvPr/>
        </p:nvSpPr>
        <p:spPr>
          <a:xfrm>
            <a:off x="640080" y="188366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01</a:t>
            </a:r>
            <a:endParaRPr lang="en-US" sz="900" dirty="0"/>
          </a:p>
        </p:txBody>
      </p:sp>
      <p:sp>
        <p:nvSpPr>
          <p:cNvPr id="9" name="Text 7"/>
          <p:cNvSpPr/>
          <p:nvPr/>
        </p:nvSpPr>
        <p:spPr>
          <a:xfrm>
            <a:off x="640080" y="212140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Brute Force</a:t>
            </a:r>
            <a:endParaRPr lang="en-US" sz="950" dirty="0"/>
          </a:p>
        </p:txBody>
      </p:sp>
      <p:sp>
        <p:nvSpPr>
          <p:cNvPr id="10" name="Shape 8"/>
          <p:cNvSpPr/>
          <p:nvPr/>
        </p:nvSpPr>
        <p:spPr>
          <a:xfrm>
            <a:off x="1965960" y="181051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11" name="Text 9"/>
          <p:cNvSpPr/>
          <p:nvPr/>
        </p:nvSpPr>
        <p:spPr>
          <a:xfrm>
            <a:off x="2057400" y="188366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02</a:t>
            </a:r>
            <a:endParaRPr lang="en-US" sz="900" dirty="0"/>
          </a:p>
        </p:txBody>
      </p:sp>
      <p:sp>
        <p:nvSpPr>
          <p:cNvPr id="12" name="Text 10"/>
          <p:cNvSpPr/>
          <p:nvPr/>
        </p:nvSpPr>
        <p:spPr>
          <a:xfrm>
            <a:off x="2057400" y="212140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XSS (Reflected)</a:t>
            </a:r>
            <a:endParaRPr lang="en-US" sz="950" dirty="0"/>
          </a:p>
        </p:txBody>
      </p:sp>
      <p:sp>
        <p:nvSpPr>
          <p:cNvPr id="13" name="Shape 11"/>
          <p:cNvSpPr/>
          <p:nvPr/>
        </p:nvSpPr>
        <p:spPr>
          <a:xfrm>
            <a:off x="3383280" y="181051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14" name="Text 12"/>
          <p:cNvSpPr/>
          <p:nvPr/>
        </p:nvSpPr>
        <p:spPr>
          <a:xfrm>
            <a:off x="3474720" y="188366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03</a:t>
            </a:r>
            <a:endParaRPr lang="en-US" sz="900" dirty="0"/>
          </a:p>
        </p:txBody>
      </p:sp>
      <p:sp>
        <p:nvSpPr>
          <p:cNvPr id="15" name="Text 13"/>
          <p:cNvSpPr/>
          <p:nvPr/>
        </p:nvSpPr>
        <p:spPr>
          <a:xfrm>
            <a:off x="3474720" y="212140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SQL Injection</a:t>
            </a:r>
            <a:endParaRPr lang="en-US" sz="950" dirty="0"/>
          </a:p>
        </p:txBody>
      </p:sp>
      <p:sp>
        <p:nvSpPr>
          <p:cNvPr id="16" name="Shape 14"/>
          <p:cNvSpPr/>
          <p:nvPr/>
        </p:nvSpPr>
        <p:spPr>
          <a:xfrm>
            <a:off x="4800600" y="181051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17" name="Text 15"/>
          <p:cNvSpPr/>
          <p:nvPr/>
        </p:nvSpPr>
        <p:spPr>
          <a:xfrm>
            <a:off x="4892040" y="188366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04</a:t>
            </a:r>
            <a:endParaRPr lang="en-US" sz="900" dirty="0"/>
          </a:p>
        </p:txBody>
      </p:sp>
      <p:sp>
        <p:nvSpPr>
          <p:cNvPr id="18" name="Text 16"/>
          <p:cNvSpPr/>
          <p:nvPr/>
        </p:nvSpPr>
        <p:spPr>
          <a:xfrm>
            <a:off x="4892040" y="212140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CSP Bypass</a:t>
            </a:r>
            <a:endParaRPr lang="en-US" sz="950" dirty="0"/>
          </a:p>
        </p:txBody>
      </p:sp>
      <p:sp>
        <p:nvSpPr>
          <p:cNvPr id="19" name="Shape 17"/>
          <p:cNvSpPr/>
          <p:nvPr/>
        </p:nvSpPr>
        <p:spPr>
          <a:xfrm>
            <a:off x="6217920" y="181051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20" name="Text 18"/>
          <p:cNvSpPr/>
          <p:nvPr/>
        </p:nvSpPr>
        <p:spPr>
          <a:xfrm>
            <a:off x="6309360" y="188366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05</a:t>
            </a:r>
            <a:endParaRPr lang="en-US" sz="900" dirty="0"/>
          </a:p>
        </p:txBody>
      </p:sp>
      <p:sp>
        <p:nvSpPr>
          <p:cNvPr id="21" name="Text 19"/>
          <p:cNvSpPr/>
          <p:nvPr/>
        </p:nvSpPr>
        <p:spPr>
          <a:xfrm>
            <a:off x="6309360" y="212140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XSS (DOM)</a:t>
            </a:r>
            <a:endParaRPr lang="en-US" sz="950" dirty="0"/>
          </a:p>
        </p:txBody>
      </p:sp>
      <p:sp>
        <p:nvSpPr>
          <p:cNvPr id="22" name="Shape 20"/>
          <p:cNvSpPr/>
          <p:nvPr/>
        </p:nvSpPr>
        <p:spPr>
          <a:xfrm>
            <a:off x="7635240" y="181051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23" name="Text 21"/>
          <p:cNvSpPr/>
          <p:nvPr/>
        </p:nvSpPr>
        <p:spPr>
          <a:xfrm>
            <a:off x="7726680" y="188366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06</a:t>
            </a:r>
            <a:endParaRPr lang="en-US" sz="900" dirty="0"/>
          </a:p>
        </p:txBody>
      </p:sp>
      <p:sp>
        <p:nvSpPr>
          <p:cNvPr id="24" name="Text 22"/>
          <p:cNvSpPr/>
          <p:nvPr/>
        </p:nvSpPr>
        <p:spPr>
          <a:xfrm>
            <a:off x="7726680" y="212140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SQL Injection (Blind)</a:t>
            </a:r>
            <a:endParaRPr lang="en-US" sz="950" dirty="0"/>
          </a:p>
        </p:txBody>
      </p:sp>
      <p:sp>
        <p:nvSpPr>
          <p:cNvPr id="25" name="Shape 23"/>
          <p:cNvSpPr/>
          <p:nvPr/>
        </p:nvSpPr>
        <p:spPr>
          <a:xfrm>
            <a:off x="548640" y="277063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26" name="Text 24"/>
          <p:cNvSpPr/>
          <p:nvPr/>
        </p:nvSpPr>
        <p:spPr>
          <a:xfrm>
            <a:off x="640080" y="284378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07</a:t>
            </a:r>
            <a:endParaRPr lang="en-US" sz="900" dirty="0"/>
          </a:p>
        </p:txBody>
      </p:sp>
      <p:sp>
        <p:nvSpPr>
          <p:cNvPr id="27" name="Text 25"/>
          <p:cNvSpPr/>
          <p:nvPr/>
        </p:nvSpPr>
        <p:spPr>
          <a:xfrm>
            <a:off x="640080" y="308152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JavaScript Security</a:t>
            </a:r>
            <a:endParaRPr lang="en-US" sz="950" dirty="0"/>
          </a:p>
        </p:txBody>
      </p:sp>
      <p:sp>
        <p:nvSpPr>
          <p:cNvPr id="28" name="Shape 26"/>
          <p:cNvSpPr/>
          <p:nvPr/>
        </p:nvSpPr>
        <p:spPr>
          <a:xfrm>
            <a:off x="1965960" y="277063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29" name="Text 27"/>
          <p:cNvSpPr/>
          <p:nvPr/>
        </p:nvSpPr>
        <p:spPr>
          <a:xfrm>
            <a:off x="2057400" y="284378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08</a:t>
            </a:r>
            <a:endParaRPr lang="en-US" sz="900" dirty="0"/>
          </a:p>
        </p:txBody>
      </p:sp>
      <p:sp>
        <p:nvSpPr>
          <p:cNvPr id="30" name="Text 28"/>
          <p:cNvSpPr/>
          <p:nvPr/>
        </p:nvSpPr>
        <p:spPr>
          <a:xfrm>
            <a:off x="2057400" y="308152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XSS (Stored)</a:t>
            </a:r>
            <a:endParaRPr lang="en-US" sz="950" dirty="0"/>
          </a:p>
        </p:txBody>
      </p:sp>
      <p:sp>
        <p:nvSpPr>
          <p:cNvPr id="31" name="Shape 29"/>
          <p:cNvSpPr/>
          <p:nvPr/>
        </p:nvSpPr>
        <p:spPr>
          <a:xfrm>
            <a:off x="3383280" y="277063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32" name="Text 30"/>
          <p:cNvSpPr/>
          <p:nvPr/>
        </p:nvSpPr>
        <p:spPr>
          <a:xfrm>
            <a:off x="3474720" y="284378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09</a:t>
            </a:r>
            <a:endParaRPr lang="en-US" sz="900" dirty="0"/>
          </a:p>
        </p:txBody>
      </p:sp>
      <p:sp>
        <p:nvSpPr>
          <p:cNvPr id="33" name="Text 31"/>
          <p:cNvSpPr/>
          <p:nvPr/>
        </p:nvSpPr>
        <p:spPr>
          <a:xfrm>
            <a:off x="3474720" y="308152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Command Injection</a:t>
            </a:r>
            <a:endParaRPr lang="en-US" sz="950" dirty="0"/>
          </a:p>
        </p:txBody>
      </p:sp>
      <p:sp>
        <p:nvSpPr>
          <p:cNvPr id="34" name="Shape 32"/>
          <p:cNvSpPr/>
          <p:nvPr/>
        </p:nvSpPr>
        <p:spPr>
          <a:xfrm>
            <a:off x="4800600" y="277063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35" name="Text 33"/>
          <p:cNvSpPr/>
          <p:nvPr/>
        </p:nvSpPr>
        <p:spPr>
          <a:xfrm>
            <a:off x="4892040" y="284378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10</a:t>
            </a:r>
            <a:endParaRPr lang="en-US" sz="900" dirty="0"/>
          </a:p>
        </p:txBody>
      </p:sp>
      <p:sp>
        <p:nvSpPr>
          <p:cNvPr id="36" name="Text 34"/>
          <p:cNvSpPr/>
          <p:nvPr/>
        </p:nvSpPr>
        <p:spPr>
          <a:xfrm>
            <a:off x="4892040" y="308152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Insecure CAPTCHA</a:t>
            </a:r>
            <a:endParaRPr lang="en-US" sz="950" dirty="0"/>
          </a:p>
        </p:txBody>
      </p:sp>
      <p:sp>
        <p:nvSpPr>
          <p:cNvPr id="37" name="Shape 35"/>
          <p:cNvSpPr/>
          <p:nvPr/>
        </p:nvSpPr>
        <p:spPr>
          <a:xfrm>
            <a:off x="6217920" y="277063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38" name="Text 36"/>
          <p:cNvSpPr/>
          <p:nvPr/>
        </p:nvSpPr>
        <p:spPr>
          <a:xfrm>
            <a:off x="6309360" y="284378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11</a:t>
            </a:r>
            <a:endParaRPr lang="en-US" sz="900" dirty="0"/>
          </a:p>
        </p:txBody>
      </p:sp>
      <p:sp>
        <p:nvSpPr>
          <p:cNvPr id="39" name="Text 37"/>
          <p:cNvSpPr/>
          <p:nvPr/>
        </p:nvSpPr>
        <p:spPr>
          <a:xfrm>
            <a:off x="6309360" y="308152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CSRF</a:t>
            </a:r>
            <a:endParaRPr lang="en-US" sz="950" dirty="0"/>
          </a:p>
        </p:txBody>
      </p:sp>
      <p:sp>
        <p:nvSpPr>
          <p:cNvPr id="40" name="Shape 38"/>
          <p:cNvSpPr/>
          <p:nvPr/>
        </p:nvSpPr>
        <p:spPr>
          <a:xfrm>
            <a:off x="7635240" y="277063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41" name="Text 39"/>
          <p:cNvSpPr/>
          <p:nvPr/>
        </p:nvSpPr>
        <p:spPr>
          <a:xfrm>
            <a:off x="7726680" y="284378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12</a:t>
            </a:r>
            <a:endParaRPr lang="en-US" sz="900" dirty="0"/>
          </a:p>
        </p:txBody>
      </p:sp>
      <p:sp>
        <p:nvSpPr>
          <p:cNvPr id="42" name="Text 40"/>
          <p:cNvSpPr/>
          <p:nvPr/>
        </p:nvSpPr>
        <p:spPr>
          <a:xfrm>
            <a:off x="7726680" y="308152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File Upload</a:t>
            </a:r>
            <a:endParaRPr lang="en-US" sz="950" dirty="0"/>
          </a:p>
        </p:txBody>
      </p:sp>
      <p:sp>
        <p:nvSpPr>
          <p:cNvPr id="43" name="Shape 41"/>
          <p:cNvSpPr/>
          <p:nvPr/>
        </p:nvSpPr>
        <p:spPr>
          <a:xfrm>
            <a:off x="548640" y="373075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44" name="Text 42"/>
          <p:cNvSpPr/>
          <p:nvPr/>
        </p:nvSpPr>
        <p:spPr>
          <a:xfrm>
            <a:off x="640080" y="380390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13</a:t>
            </a:r>
            <a:endParaRPr lang="en-US" sz="900" dirty="0"/>
          </a:p>
        </p:txBody>
      </p:sp>
      <p:sp>
        <p:nvSpPr>
          <p:cNvPr id="45" name="Text 43"/>
          <p:cNvSpPr/>
          <p:nvPr/>
        </p:nvSpPr>
        <p:spPr>
          <a:xfrm>
            <a:off x="640080" y="404164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Weak Session IDs</a:t>
            </a:r>
            <a:endParaRPr lang="en-US" sz="950" dirty="0"/>
          </a:p>
        </p:txBody>
      </p:sp>
      <p:sp>
        <p:nvSpPr>
          <p:cNvPr id="46" name="Shape 44"/>
          <p:cNvSpPr/>
          <p:nvPr/>
        </p:nvSpPr>
        <p:spPr>
          <a:xfrm>
            <a:off x="1965960" y="373075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47" name="Text 45"/>
          <p:cNvSpPr/>
          <p:nvPr/>
        </p:nvSpPr>
        <p:spPr>
          <a:xfrm>
            <a:off x="2057400" y="380390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14</a:t>
            </a:r>
            <a:endParaRPr lang="en-US" sz="900" dirty="0"/>
          </a:p>
        </p:txBody>
      </p:sp>
      <p:sp>
        <p:nvSpPr>
          <p:cNvPr id="48" name="Text 46"/>
          <p:cNvSpPr/>
          <p:nvPr/>
        </p:nvSpPr>
        <p:spPr>
          <a:xfrm>
            <a:off x="2057400" y="404164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File Inclusion</a:t>
            </a:r>
            <a:endParaRPr lang="en-US" sz="950" dirty="0"/>
          </a:p>
        </p:txBody>
      </p:sp>
      <p:sp>
        <p:nvSpPr>
          <p:cNvPr id="49" name="Shape 47"/>
          <p:cNvSpPr/>
          <p:nvPr/>
        </p:nvSpPr>
        <p:spPr>
          <a:xfrm>
            <a:off x="3383280" y="373075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50" name="Text 48"/>
          <p:cNvSpPr/>
          <p:nvPr/>
        </p:nvSpPr>
        <p:spPr>
          <a:xfrm>
            <a:off x="3474720" y="380390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15</a:t>
            </a:r>
            <a:endParaRPr lang="en-US" sz="900" dirty="0"/>
          </a:p>
        </p:txBody>
      </p:sp>
      <p:sp>
        <p:nvSpPr>
          <p:cNvPr id="51" name="Text 49"/>
          <p:cNvSpPr/>
          <p:nvPr/>
        </p:nvSpPr>
        <p:spPr>
          <a:xfrm>
            <a:off x="3474720" y="404164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Authorization Bypass</a:t>
            </a:r>
            <a:endParaRPr lang="en-US" sz="950" dirty="0"/>
          </a:p>
        </p:txBody>
      </p:sp>
      <p:sp>
        <p:nvSpPr>
          <p:cNvPr id="52" name="Shape 50"/>
          <p:cNvSpPr/>
          <p:nvPr/>
        </p:nvSpPr>
        <p:spPr>
          <a:xfrm>
            <a:off x="4800600" y="373075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53" name="Text 51"/>
          <p:cNvSpPr/>
          <p:nvPr/>
        </p:nvSpPr>
        <p:spPr>
          <a:xfrm>
            <a:off x="4892040" y="380390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16</a:t>
            </a:r>
            <a:endParaRPr lang="en-US" sz="900" dirty="0"/>
          </a:p>
        </p:txBody>
      </p:sp>
      <p:sp>
        <p:nvSpPr>
          <p:cNvPr id="54" name="Text 52"/>
          <p:cNvSpPr/>
          <p:nvPr/>
        </p:nvSpPr>
        <p:spPr>
          <a:xfrm>
            <a:off x="4892040" y="404164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Open HTTP Redirect</a:t>
            </a:r>
            <a:endParaRPr lang="en-US" sz="950" dirty="0"/>
          </a:p>
        </p:txBody>
      </p:sp>
      <p:sp>
        <p:nvSpPr>
          <p:cNvPr id="55" name="Shape 53"/>
          <p:cNvSpPr/>
          <p:nvPr/>
        </p:nvSpPr>
        <p:spPr>
          <a:xfrm>
            <a:off x="6217920" y="373075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56" name="Text 54"/>
          <p:cNvSpPr/>
          <p:nvPr/>
        </p:nvSpPr>
        <p:spPr>
          <a:xfrm>
            <a:off x="6309360" y="380390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17</a:t>
            </a:r>
            <a:endParaRPr lang="en-US" sz="900" dirty="0"/>
          </a:p>
        </p:txBody>
      </p:sp>
      <p:sp>
        <p:nvSpPr>
          <p:cNvPr id="57" name="Text 55"/>
          <p:cNvSpPr/>
          <p:nvPr/>
        </p:nvSpPr>
        <p:spPr>
          <a:xfrm>
            <a:off x="6309360" y="404164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Cryptography</a:t>
            </a:r>
            <a:endParaRPr lang="en-US" sz="950" dirty="0"/>
          </a:p>
        </p:txBody>
      </p:sp>
      <p:sp>
        <p:nvSpPr>
          <p:cNvPr id="58" name="Shape 56"/>
          <p:cNvSpPr/>
          <p:nvPr/>
        </p:nvSpPr>
        <p:spPr>
          <a:xfrm>
            <a:off x="7635240" y="3730752"/>
            <a:ext cx="1335024" cy="868680"/>
          </a:xfrm>
          <a:prstGeom prst="roundRect">
            <a:avLst>
              <a:gd name="adj" fmla="val 7368"/>
            </a:avLst>
          </a:prstGeom>
          <a:solidFill>
            <a:srgbClr val="111A2E"/>
          </a:solidFill>
          <a:ln w="9525">
            <a:solidFill>
              <a:srgbClr val="233047"/>
            </a:solidFill>
            <a:prstDash val="solid"/>
          </a:ln>
        </p:spPr>
        <p:txBody>
          <a:bodyPr/>
          <a:lstStyle/>
          <a:p>
            <a:endParaRPr lang="en-GB"/>
          </a:p>
        </p:txBody>
      </p:sp>
      <p:sp>
        <p:nvSpPr>
          <p:cNvPr id="59" name="Text 57"/>
          <p:cNvSpPr/>
          <p:nvPr/>
        </p:nvSpPr>
        <p:spPr>
          <a:xfrm>
            <a:off x="7726680" y="3803904"/>
            <a:ext cx="548640" cy="219456"/>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18</a:t>
            </a:r>
            <a:endParaRPr lang="en-US" sz="900" dirty="0"/>
          </a:p>
        </p:txBody>
      </p:sp>
      <p:sp>
        <p:nvSpPr>
          <p:cNvPr id="60" name="Text 58"/>
          <p:cNvSpPr/>
          <p:nvPr/>
        </p:nvSpPr>
        <p:spPr>
          <a:xfrm>
            <a:off x="7726680" y="4041648"/>
            <a:ext cx="1152144" cy="502920"/>
          </a:xfrm>
          <a:prstGeom prst="rect">
            <a:avLst/>
          </a:prstGeom>
          <a:noFill/>
          <a:ln/>
        </p:spPr>
        <p:txBody>
          <a:bodyPr wrap="square" lIns="0" tIns="0" rIns="0" bIns="0" rtlCol="0" anchor="t"/>
          <a:lstStyle/>
          <a:p>
            <a:pPr marL="0" indent="0">
              <a:buNone/>
            </a:pPr>
            <a:r>
              <a:rPr lang="en-US" sz="950" b="1" dirty="0">
                <a:solidFill>
                  <a:srgbClr val="F1F5F9"/>
                </a:solidFill>
                <a:latin typeface="Calibri" pitchFamily="34" charset="0"/>
                <a:ea typeface="Calibri" pitchFamily="34" charset="-122"/>
                <a:cs typeface="Calibri" pitchFamily="34" charset="-120"/>
              </a:rPr>
              <a:t>API Security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09</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01 / 18  •  AUTHENTICATION</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Brute Force</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Attackers systematically try many username and password combinations until a valid credential pair is found.</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Login forms with no attempt limits let weak or default credentials be guessed given enough time.</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Account takeover, exposure of sensitive data, and large-scale credential stuffing attacks.</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Account lockout &amp; rate limiting</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Strong password policies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Multi-factor authentication (MFA)</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Attacker</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Login Form</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Account Access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10</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02 / 18  •  CLIENT-SIDE</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XSS (Reflected)</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Malicious script is injected via a URL or input field and immediately reflected back into the page by the server.</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The victim's browser executes the injected script as if it were part of the trusted site.</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Session hijacking, credential theft, page defacement, or redirection to malicious sites.</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Output encoding on every response</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Strict input validation</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Content-Security-Policy headers</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Malicious Link</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Victim Browser</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Script Executes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11</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03 / 18  •  INJECTION</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SQL Injection</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Untrusted input is inserted into a database query, altering its intended logic without proper sanitization.</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Attackers can manipulate queries to read, modify, or delete data directly from the backend.</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Full data breaches, authentication bypass, and permanent data loss or corruption.</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Parameterized queries / prepared statements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Least-privilege database accounts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Strict input validation</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User Input</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SQL Query</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Database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12</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04 / 18  •  CLIENT-SIDE</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CSP Bypass</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Techniques that circumvent a Content-Security-Policy intended to restrict which scripts a page may run.</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3"/>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 weak or overly permissive policy creates a false sense of security while offering little real protection.</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5"/>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XSS payloads execute despite CSP being enabled, defeating a key browser-level defense.</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6"/>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Strict nonce- or hash-based CSP</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Avoid 'unsafe-inline' / 'unsafe-eval'</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Regular policy audits</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7"/>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Weak CSP Policy</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Bypass Technique</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8"/>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Script Runs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13</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05 / 18  •  CLIENT-SIDE</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XSS (DOM)</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Client-side JavaScript writes untrusted data into the page's DOM, triggering script execution without server involvement.</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The flaw lives entirely in client-side code, often bypassing server-side security filters.</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Same consequences as other XSS types: session theft, phishing, and malicious redirects.</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Use safe DOM APIs (textContent, not innerHTML)</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Sanitize data before rendering</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Client-side CSP enforcement</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User Input</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Client-Side JS</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Unsafe DOM Update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14</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06 / 18  •  INJECTION</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SQL Injection (Blind)</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 form of SQL injection where results aren't shown directly; the attacker infers data from application behavior.</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No visible errors or data make this variant harder to detect through casual observation.</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Slow but complete extraction of sensitive database contents over many requests.</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Parameterized queries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Generic, non-descriptive error messages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Query timeouts &amp; anomaly monitoring</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Input</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True / False Behavior</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Inferred Data</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15</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07 / 18  •  CLIENT-SIDE</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JavaScript Security</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Weaknesses that arise when critical security logic is implemented only in client-side JavaScript.</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Client-side code can be viewed, altered, or bypassed entirely by anyone using the browser's tools.</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Business-logic bypass and exposure of hidden functionality or secrets embedded in scripts.</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Never trust client-side validation alone</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Re-enforce every check server-side</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Avoid embedding secrets in JS</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Client Script</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Logic Modified</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Server Trusts Result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16</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08 / 18  •  CLIENT-SIDE</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XSS (Stored)</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Malicious script is saved on the server, for example in a comment or profile field, and served to every visitor.</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Every user who views the affected page automatically executes the attacker's script.</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Mass account compromise and persistent, site-wide exposure that spreads with normal browsing.</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Sanitize input on save and output on render</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Escape stored HTML</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Content-Security-Policy</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Attacker Submits Content</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Stored in Database</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Served to All Visitors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17</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09 / 18  •  INJECTION</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Command Injection</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Untrusted input reaches a system shell command, allowing execution of arbitrary operating-system commands.</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Grants the attacker direct interaction with the underlying server operating system.</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Full server compromise, data destruction, and lateral movement into internal networks.</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Avoid shell calls built from user input</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Use safe APIs and allow-lists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Sandbox execution environments</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User Input</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Shell Command</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Operating System</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18</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10 / 18  •  AUTHENTICATION</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Insecure CAPTCHA</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 CAPTCHA implementation that can be bypassed or is not properly validated on the server side.</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Automated bots defeat the exact control meant to distinguish humans from scripts.</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Enables automated brute force attacks, spam submissions, and mass fake account creation.</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Always validate responses server-side</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Use modern, robust CAPTCHA services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Pair with rate limiting</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Automated Bot</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Weak CAPTCHA Check</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Action Permitted</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19</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11 / 18  •  SESSION MANAGEMENT</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CSRF</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 victim's authenticated browser is tricked into submitting an unwanted request to a trusted site.</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The forged request appears legitimate because it carries the victim's own session cookies.</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Unauthorized fund transfers, password changes, or data modification without user consent.</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Anti-CSRF tokens on state-changing requests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SameSite cookie attribute</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Re-authentication for sensitive actions</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Malicious Page</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Victim's Browser</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Forged Request Sent</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20</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12 / 18  •  FILE HANDLING</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File Upload</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An upload feature accepts files without adequately validating their type, content, or destination.</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Attackers can disguise executable scripts as legitimate files to bypass weak checks.</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Remote code execution, web shell deployment, and full server takeover.</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Strict file-type &amp; content validation</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Store uploads outside the webroot</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Disable execution in upload directories</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Upload Form</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Server Storage</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Malicious File Executed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21</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13 / 18  •  SESSION MANAGEMENT</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Weak Session IDs</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Session identifiers that are predictable, too short, or generated with poor randomness.</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Predictable tokens allow attackers to guess or brute-force valid, active sessions.</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Session hijacking and full account impersonation without ever needing real credentials.</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Cryptographically random, long session IDs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Secure &amp; HttpOnly cookie flags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Session expiration and rotation</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Predictable ID Pattern</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Session Guessed</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Account Hijacked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22</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14 / 18  •  FILE HANDLING</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File Inclusion</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An application dynamically includes files based on user input without properly validating the source.</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Local or remote files, including malicious ones, can be loaded and executed by the server.</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Source code disclosure, remote code execution, and full server compromise.</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Allow-list permitted files only</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Never pass raw user input to include functions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Disable remote file inclusion</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User Input</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Include Function</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Unintended File Loaded</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23</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15 / 18  •  ACCESS CONTROL</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Authorization Bypass</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An application fails to properly verify that a user is permitted to access a specific resource or action.</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Access checks are missing, inconsistent, or rely only on hiding UI elements from the user.</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Privilege escalation, exposure of other users' data (IDOR), and unauthorized admin access.</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Enforce server-side checks on every request</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Deny-by-default access model</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Consistent authorization across all endpoints</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User Request</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Missing Access Check</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Restricted Resource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24</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16 / 18  •  CLIENT-SIDE</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Open HTTP Redirect</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An application redirects users to a URL supplied via input, without validating the destination.</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The trusted domain name lends false legitimacy to a link that actually leads elsewhere.</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An effective phishing platform for credential theft and malware delivery via a trusted brand.</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Validate redirects against an allow-list</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Prefer relative internal paths</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Warn users before external redirects</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Trusted Link</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Redirect Parameter</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External Site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25</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17 / 18  •  CRYPTOGRAPHY</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Cryptography</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Weaknesses in how an application encrypts, hashes, or stores sensitive data.</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Weak algorithms, hardcoded keys, or unsalted hashes fail to protect data even when 'encrypted.'</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Exposure of passwords, personal data, and secrets if the database is ever breached.</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Modern password hashing (bcrypt / Argon2)</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Always salt hashed data</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Proper key management practices</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Sensitive Data</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Weak Algorithm</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Data Recoverable</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26</a:t>
            </a:r>
            <a:endParaRPr lang="en-US" sz="800" dirty="0"/>
          </a:p>
        </p:txBody>
      </p:sp>
      <p:sp>
        <p:nvSpPr>
          <p:cNvPr id="4" name="Text 2"/>
          <p:cNvSpPr/>
          <p:nvPr/>
        </p:nvSpPr>
        <p:spPr>
          <a:xfrm>
            <a:off x="548640" y="292608"/>
            <a:ext cx="6858000" cy="237744"/>
          </a:xfrm>
          <a:prstGeom prst="rect">
            <a:avLst/>
          </a:prstGeom>
          <a:noFill/>
          <a:ln/>
        </p:spPr>
        <p:txBody>
          <a:bodyPr wrap="square" lIns="0" tIns="0" rIns="0" bIns="0" rtlCol="0" anchor="ctr"/>
          <a:lstStyle/>
          <a:p>
            <a:pPr marL="0" indent="0">
              <a:buNone/>
            </a:pPr>
            <a:r>
              <a:rPr lang="en-US" sz="1050" b="1" kern="0" spc="150" dirty="0">
                <a:solidFill>
                  <a:srgbClr val="22D3EE"/>
                </a:solidFill>
                <a:latin typeface="Calibri" pitchFamily="34" charset="0"/>
                <a:ea typeface="Calibri" pitchFamily="34" charset="-122"/>
                <a:cs typeface="Calibri" pitchFamily="34" charset="-120"/>
              </a:rPr>
              <a:t>VULNERABILITY 18 / 18  •  ACCESS CONTROL</a:t>
            </a:r>
            <a:endParaRPr lang="en-US" sz="1050" dirty="0"/>
          </a:p>
        </p:txBody>
      </p:sp>
      <p:sp>
        <p:nvSpPr>
          <p:cNvPr id="5" name="Text 3"/>
          <p:cNvSpPr/>
          <p:nvPr/>
        </p:nvSpPr>
        <p:spPr>
          <a:xfrm>
            <a:off x="548640" y="548640"/>
            <a:ext cx="6949440" cy="502920"/>
          </a:xfrm>
          <a:prstGeom prst="rect">
            <a:avLst/>
          </a:prstGeom>
          <a:noFill/>
          <a:ln/>
        </p:spPr>
        <p:txBody>
          <a:bodyPr wrap="square" lIns="0" tIns="0" rIns="0" bIns="0" rtlCol="0" anchor="ctr"/>
          <a:lstStyle/>
          <a:p>
            <a:pPr marL="0" indent="0">
              <a:buNone/>
            </a:pPr>
            <a:r>
              <a:rPr lang="en-US" sz="2500" b="1" dirty="0">
                <a:solidFill>
                  <a:srgbClr val="F1F5F9"/>
                </a:solidFill>
                <a:latin typeface="Cambria" pitchFamily="34" charset="0"/>
                <a:ea typeface="Cambria" pitchFamily="34" charset="-122"/>
                <a:cs typeface="Cambria" pitchFamily="34" charset="-120"/>
              </a:rPr>
              <a:t>API Security</a:t>
            </a:r>
            <a:endParaRPr lang="en-US" sz="2500" dirty="0"/>
          </a:p>
        </p:txBody>
      </p:sp>
      <p:sp>
        <p:nvSpPr>
          <p:cNvPr id="6" name="Shape 4"/>
          <p:cNvSpPr/>
          <p:nvPr/>
        </p:nvSpPr>
        <p:spPr>
          <a:xfrm>
            <a:off x="7726680" y="256032"/>
            <a:ext cx="658368" cy="658368"/>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891272" y="420624"/>
            <a:ext cx="329184" cy="329184"/>
          </a:xfrm>
          <a:prstGeom prst="rect">
            <a:avLst/>
          </a:prstGeom>
        </p:spPr>
      </p:pic>
      <p:sp>
        <p:nvSpPr>
          <p:cNvPr id="8" name="Shape 5"/>
          <p:cNvSpPr/>
          <p:nvPr/>
        </p:nvSpPr>
        <p:spPr>
          <a:xfrm>
            <a:off x="548640" y="1225296"/>
            <a:ext cx="329184" cy="329184"/>
          </a:xfrm>
          <a:prstGeom prst="ellipse">
            <a:avLst/>
          </a:prstGeom>
          <a:solidFill>
            <a:srgbClr val="111A2E"/>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22706" y="1299362"/>
            <a:ext cx="181051" cy="181051"/>
          </a:xfrm>
          <a:prstGeom prst="rect">
            <a:avLst/>
          </a:prstGeom>
        </p:spPr>
      </p:pic>
      <p:sp>
        <p:nvSpPr>
          <p:cNvPr id="10" name="Text 6"/>
          <p:cNvSpPr/>
          <p:nvPr/>
        </p:nvSpPr>
        <p:spPr>
          <a:xfrm>
            <a:off x="1005840" y="1207008"/>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Definition</a:t>
            </a:r>
            <a:endParaRPr lang="en-US" sz="1200" dirty="0"/>
          </a:p>
        </p:txBody>
      </p:sp>
      <p:sp>
        <p:nvSpPr>
          <p:cNvPr id="11" name="Text 7"/>
          <p:cNvSpPr/>
          <p:nvPr/>
        </p:nvSpPr>
        <p:spPr>
          <a:xfrm>
            <a:off x="1005840" y="1435608"/>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Weaknesses in how APIs authenticate, authorize, and validate requests coming from clients.</a:t>
            </a:r>
            <a:endParaRPr lang="en-US" sz="1000" dirty="0"/>
          </a:p>
        </p:txBody>
      </p:sp>
      <p:sp>
        <p:nvSpPr>
          <p:cNvPr id="12" name="Shape 8"/>
          <p:cNvSpPr/>
          <p:nvPr/>
        </p:nvSpPr>
        <p:spPr>
          <a:xfrm>
            <a:off x="548640" y="2121408"/>
            <a:ext cx="329184" cy="329184"/>
          </a:xfrm>
          <a:prstGeom prst="ellipse">
            <a:avLst/>
          </a:prstGeom>
          <a:solidFill>
            <a:srgbClr val="111A2E"/>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22706" y="2195474"/>
            <a:ext cx="181051" cy="181051"/>
          </a:xfrm>
          <a:prstGeom prst="rect">
            <a:avLst/>
          </a:prstGeom>
        </p:spPr>
      </p:pic>
      <p:sp>
        <p:nvSpPr>
          <p:cNvPr id="14" name="Text 9"/>
          <p:cNvSpPr/>
          <p:nvPr/>
        </p:nvSpPr>
        <p:spPr>
          <a:xfrm>
            <a:off x="1005840" y="2103120"/>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It's Dangerous</a:t>
            </a:r>
            <a:endParaRPr lang="en-US" sz="1200" dirty="0"/>
          </a:p>
        </p:txBody>
      </p:sp>
      <p:sp>
        <p:nvSpPr>
          <p:cNvPr id="15" name="Text 10"/>
          <p:cNvSpPr/>
          <p:nvPr/>
        </p:nvSpPr>
        <p:spPr>
          <a:xfrm>
            <a:off x="1005840" y="2331720"/>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APIs often expose more functionality and data than the UI does, widening the attack surface.</a:t>
            </a:r>
            <a:endParaRPr lang="en-US" sz="1000" dirty="0"/>
          </a:p>
        </p:txBody>
      </p:sp>
      <p:sp>
        <p:nvSpPr>
          <p:cNvPr id="16" name="Shape 11"/>
          <p:cNvSpPr/>
          <p:nvPr/>
        </p:nvSpPr>
        <p:spPr>
          <a:xfrm>
            <a:off x="548640" y="3017520"/>
            <a:ext cx="329184" cy="329184"/>
          </a:xfrm>
          <a:prstGeom prst="ellipse">
            <a:avLst/>
          </a:prstGeom>
          <a:solidFill>
            <a:srgbClr val="111A2E"/>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22706" y="3091586"/>
            <a:ext cx="181051" cy="181051"/>
          </a:xfrm>
          <a:prstGeom prst="rect">
            <a:avLst/>
          </a:prstGeom>
        </p:spPr>
      </p:pic>
      <p:sp>
        <p:nvSpPr>
          <p:cNvPr id="18" name="Text 12"/>
          <p:cNvSpPr/>
          <p:nvPr/>
        </p:nvSpPr>
        <p:spPr>
          <a:xfrm>
            <a:off x="1005840" y="2999232"/>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Real-World Impact</a:t>
            </a:r>
            <a:endParaRPr lang="en-US" sz="1200" dirty="0"/>
          </a:p>
        </p:txBody>
      </p:sp>
      <p:sp>
        <p:nvSpPr>
          <p:cNvPr id="19" name="Text 13"/>
          <p:cNvSpPr/>
          <p:nvPr/>
        </p:nvSpPr>
        <p:spPr>
          <a:xfrm>
            <a:off x="1005840" y="3227832"/>
            <a:ext cx="4617720" cy="566928"/>
          </a:xfrm>
          <a:prstGeom prst="rect">
            <a:avLst/>
          </a:prstGeom>
          <a:noFill/>
          <a:ln/>
        </p:spPr>
        <p:txBody>
          <a:bodyPr wrap="square" lIns="0" tIns="0" rIns="0" bIns="0" rtlCol="0" anchor="t"/>
          <a:lstStyle/>
          <a:p>
            <a:pPr marL="0" indent="0">
              <a:lnSpc>
                <a:spcPct val="108000"/>
              </a:lnSpc>
              <a:buNone/>
            </a:pPr>
            <a:r>
              <a:rPr lang="en-US" sz="1000" dirty="0">
                <a:solidFill>
                  <a:srgbClr val="9CB0C9"/>
                </a:solidFill>
                <a:latin typeface="Calibri" pitchFamily="34" charset="0"/>
                <a:ea typeface="Calibri" pitchFamily="34" charset="-122"/>
                <a:cs typeface="Calibri" pitchFamily="34" charset="-120"/>
              </a:rPr>
              <a:t>Large-scale data exposure, broken object-level authorization, and abuse of unthrottled endpoints.</a:t>
            </a:r>
            <a:endParaRPr lang="en-US" sz="1000" dirty="0"/>
          </a:p>
        </p:txBody>
      </p:sp>
      <p:sp>
        <p:nvSpPr>
          <p:cNvPr id="20" name="Shape 14"/>
          <p:cNvSpPr/>
          <p:nvPr/>
        </p:nvSpPr>
        <p:spPr>
          <a:xfrm>
            <a:off x="548640" y="3913632"/>
            <a:ext cx="329184" cy="329184"/>
          </a:xfrm>
          <a:prstGeom prst="ellipse">
            <a:avLst/>
          </a:prstGeom>
          <a:solidFill>
            <a:srgbClr val="111A2E"/>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622706" y="3987698"/>
            <a:ext cx="181051" cy="181051"/>
          </a:xfrm>
          <a:prstGeom prst="rect">
            <a:avLst/>
          </a:prstGeom>
        </p:spPr>
      </p:pic>
      <p:sp>
        <p:nvSpPr>
          <p:cNvPr id="22" name="Text 15"/>
          <p:cNvSpPr/>
          <p:nvPr/>
        </p:nvSpPr>
        <p:spPr>
          <a:xfrm>
            <a:off x="1005840" y="3895344"/>
            <a:ext cx="4617720" cy="219456"/>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Prevention / Mitigation</a:t>
            </a:r>
            <a:endParaRPr lang="en-US" sz="1200" dirty="0"/>
          </a:p>
        </p:txBody>
      </p:sp>
      <p:sp>
        <p:nvSpPr>
          <p:cNvPr id="23" name="Text 16"/>
          <p:cNvSpPr/>
          <p:nvPr/>
        </p:nvSpPr>
        <p:spPr>
          <a:xfrm>
            <a:off x="1005840" y="4123944"/>
            <a:ext cx="4617720" cy="585216"/>
          </a:xfrm>
          <a:prstGeom prst="rect">
            <a:avLst/>
          </a:prstGeom>
          <a:noFill/>
          <a:ln/>
        </p:spPr>
        <p:txBody>
          <a:bodyPr wrap="square" lIns="0" tIns="0" rIns="0" bIns="0" rtlCol="0" anchor="t"/>
          <a:lstStyle/>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Strong per-endpoint authentication &amp; authorization</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Rigorous input validation</a:t>
            </a:r>
            <a:endParaRPr lang="en-US" sz="950" dirty="0"/>
          </a:p>
          <a:p>
            <a:pPr marL="342900" indent="-342900">
              <a:lnSpc>
                <a:spcPct val="105000"/>
              </a:lnSpc>
              <a:buSzPct val="100000"/>
              <a:buChar char="•"/>
            </a:pPr>
            <a:r>
              <a:rPr lang="en-US" sz="950" dirty="0">
                <a:solidFill>
                  <a:srgbClr val="9CB0C9"/>
                </a:solidFill>
                <a:latin typeface="Calibri" pitchFamily="34" charset="0"/>
                <a:ea typeface="Calibri" pitchFamily="34" charset="-122"/>
                <a:cs typeface="Calibri" pitchFamily="34" charset="-120"/>
              </a:rPr>
              <a:t>Rate limiting &amp; API gateways</a:t>
            </a:r>
            <a:endParaRPr lang="en-US" sz="950" dirty="0"/>
          </a:p>
        </p:txBody>
      </p:sp>
      <p:sp>
        <p:nvSpPr>
          <p:cNvPr id="24" name="Shape 17"/>
          <p:cNvSpPr/>
          <p:nvPr/>
        </p:nvSpPr>
        <p:spPr>
          <a:xfrm>
            <a:off x="5806440" y="1207008"/>
            <a:ext cx="2880360" cy="3547872"/>
          </a:xfrm>
          <a:prstGeom prst="roundRect">
            <a:avLst>
              <a:gd name="adj" fmla="val 3175"/>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5" name="Text 18"/>
          <p:cNvSpPr/>
          <p:nvPr/>
        </p:nvSpPr>
        <p:spPr>
          <a:xfrm>
            <a:off x="5806440" y="1371600"/>
            <a:ext cx="2880360" cy="201168"/>
          </a:xfrm>
          <a:prstGeom prst="rect">
            <a:avLst/>
          </a:prstGeom>
          <a:noFill/>
          <a:ln/>
        </p:spPr>
        <p:txBody>
          <a:bodyPr wrap="square" lIns="0" tIns="0" rIns="0" bIns="0" rtlCol="0" anchor="ctr"/>
          <a:lstStyle/>
          <a:p>
            <a:pPr marL="0" indent="0" algn="ctr">
              <a:buNone/>
            </a:pPr>
            <a:r>
              <a:rPr lang="en-US" sz="900" b="1" kern="0" spc="150" dirty="0">
                <a:solidFill>
                  <a:srgbClr val="0891B2"/>
                </a:solidFill>
                <a:latin typeface="Calibri" pitchFamily="34" charset="0"/>
                <a:ea typeface="Calibri" pitchFamily="34" charset="-122"/>
                <a:cs typeface="Calibri" pitchFamily="34" charset="-120"/>
              </a:rPr>
              <a:t>SIMPLIFIED FLOW</a:t>
            </a:r>
            <a:endParaRPr lang="en-US" sz="900" dirty="0"/>
          </a:p>
        </p:txBody>
      </p:sp>
      <p:sp>
        <p:nvSpPr>
          <p:cNvPr id="26" name="Shape 19"/>
          <p:cNvSpPr/>
          <p:nvPr/>
        </p:nvSpPr>
        <p:spPr>
          <a:xfrm>
            <a:off x="7008876" y="1664208"/>
            <a:ext cx="475488" cy="475488"/>
          </a:xfrm>
          <a:prstGeom prst="ellipse">
            <a:avLst/>
          </a:prstGeom>
          <a:solidFill>
            <a:srgbClr val="152238"/>
          </a:solidFill>
          <a:ln/>
        </p:spPr>
        <p:txBody>
          <a:bodyPr/>
          <a:lstStyle/>
          <a:p>
            <a:endParaRPr lang="en-GB"/>
          </a:p>
        </p:txBody>
      </p:sp>
      <p:pic>
        <p:nvPicPr>
          <p:cNvPr id="27" name="Image 5" descr="preencoded.png"/>
          <p:cNvPicPr>
            <a:picLocks noChangeAspect="1"/>
          </p:cNvPicPr>
          <p:nvPr/>
        </p:nvPicPr>
        <p:blipFill>
          <a:blip r:embed="rId8"/>
          <a:stretch>
            <a:fillRect/>
          </a:stretch>
        </p:blipFill>
        <p:spPr>
          <a:xfrm>
            <a:off x="7115861" y="1771193"/>
            <a:ext cx="261518" cy="261518"/>
          </a:xfrm>
          <a:prstGeom prst="rect">
            <a:avLst/>
          </a:prstGeom>
        </p:spPr>
      </p:pic>
      <p:sp>
        <p:nvSpPr>
          <p:cNvPr id="28" name="Text 20"/>
          <p:cNvSpPr/>
          <p:nvPr/>
        </p:nvSpPr>
        <p:spPr>
          <a:xfrm>
            <a:off x="5943600" y="2194560"/>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API Client</a:t>
            </a:r>
            <a:endParaRPr lang="en-US" sz="950" dirty="0"/>
          </a:p>
        </p:txBody>
      </p:sp>
      <p:sp>
        <p:nvSpPr>
          <p:cNvPr id="29" name="Shape 21"/>
          <p:cNvSpPr/>
          <p:nvPr/>
        </p:nvSpPr>
        <p:spPr>
          <a:xfrm>
            <a:off x="7146036" y="2560320"/>
            <a:ext cx="201168" cy="182880"/>
          </a:xfrm>
          <a:prstGeom prst="downArrow">
            <a:avLst/>
          </a:prstGeom>
          <a:solidFill>
            <a:srgbClr val="233047"/>
          </a:solidFill>
          <a:ln/>
        </p:spPr>
        <p:txBody>
          <a:bodyPr/>
          <a:lstStyle/>
          <a:p>
            <a:endParaRPr lang="en-GB"/>
          </a:p>
        </p:txBody>
      </p:sp>
      <p:sp>
        <p:nvSpPr>
          <p:cNvPr id="30" name="Shape 22"/>
          <p:cNvSpPr/>
          <p:nvPr/>
        </p:nvSpPr>
        <p:spPr>
          <a:xfrm>
            <a:off x="7008876" y="2834640"/>
            <a:ext cx="475488" cy="475488"/>
          </a:xfrm>
          <a:prstGeom prst="ellipse">
            <a:avLst/>
          </a:prstGeom>
          <a:solidFill>
            <a:srgbClr val="0891B2"/>
          </a:solidFill>
          <a:ln/>
        </p:spPr>
        <p:txBody>
          <a:bodyPr/>
          <a:lstStyle/>
          <a:p>
            <a:endParaRPr lang="en-GB"/>
          </a:p>
        </p:txBody>
      </p:sp>
      <p:pic>
        <p:nvPicPr>
          <p:cNvPr id="31" name="Image 6" descr="preencoded.png"/>
          <p:cNvPicPr>
            <a:picLocks noChangeAspect="1"/>
          </p:cNvPicPr>
          <p:nvPr/>
        </p:nvPicPr>
        <p:blipFill>
          <a:blip r:embed="rId3"/>
          <a:stretch>
            <a:fillRect/>
          </a:stretch>
        </p:blipFill>
        <p:spPr>
          <a:xfrm>
            <a:off x="7115861" y="2941625"/>
            <a:ext cx="261518" cy="261518"/>
          </a:xfrm>
          <a:prstGeom prst="rect">
            <a:avLst/>
          </a:prstGeom>
        </p:spPr>
      </p:pic>
      <p:sp>
        <p:nvSpPr>
          <p:cNvPr id="32" name="Text 23"/>
          <p:cNvSpPr/>
          <p:nvPr/>
        </p:nvSpPr>
        <p:spPr>
          <a:xfrm>
            <a:off x="5943600" y="3364992"/>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Endpoint Request</a:t>
            </a:r>
            <a:endParaRPr lang="en-US" sz="950" dirty="0"/>
          </a:p>
        </p:txBody>
      </p:sp>
      <p:sp>
        <p:nvSpPr>
          <p:cNvPr id="33" name="Shape 24"/>
          <p:cNvSpPr/>
          <p:nvPr/>
        </p:nvSpPr>
        <p:spPr>
          <a:xfrm>
            <a:off x="7146036" y="3730752"/>
            <a:ext cx="201168" cy="182880"/>
          </a:xfrm>
          <a:prstGeom prst="downArrow">
            <a:avLst/>
          </a:prstGeom>
          <a:solidFill>
            <a:srgbClr val="233047"/>
          </a:solidFill>
          <a:ln/>
        </p:spPr>
        <p:txBody>
          <a:bodyPr/>
          <a:lstStyle/>
          <a:p>
            <a:endParaRPr lang="en-GB"/>
          </a:p>
        </p:txBody>
      </p:sp>
      <p:sp>
        <p:nvSpPr>
          <p:cNvPr id="34" name="Shape 25"/>
          <p:cNvSpPr/>
          <p:nvPr/>
        </p:nvSpPr>
        <p:spPr>
          <a:xfrm>
            <a:off x="7008876" y="4005072"/>
            <a:ext cx="475488" cy="475488"/>
          </a:xfrm>
          <a:prstGeom prst="ellipse">
            <a:avLst/>
          </a:prstGeom>
          <a:solidFill>
            <a:srgbClr val="152238"/>
          </a:solidFill>
          <a:ln/>
        </p:spPr>
        <p:txBody>
          <a:bodyPr/>
          <a:lstStyle/>
          <a:p>
            <a:endParaRPr lang="en-GB"/>
          </a:p>
        </p:txBody>
      </p:sp>
      <p:pic>
        <p:nvPicPr>
          <p:cNvPr id="35" name="Image 7" descr="preencoded.png"/>
          <p:cNvPicPr>
            <a:picLocks noChangeAspect="1"/>
          </p:cNvPicPr>
          <p:nvPr/>
        </p:nvPicPr>
        <p:blipFill>
          <a:blip r:embed="rId9"/>
          <a:stretch>
            <a:fillRect/>
          </a:stretch>
        </p:blipFill>
        <p:spPr>
          <a:xfrm>
            <a:off x="7115861" y="4112057"/>
            <a:ext cx="261518" cy="261518"/>
          </a:xfrm>
          <a:prstGeom prst="rect">
            <a:avLst/>
          </a:prstGeom>
        </p:spPr>
      </p:pic>
      <p:sp>
        <p:nvSpPr>
          <p:cNvPr id="36" name="Text 26"/>
          <p:cNvSpPr/>
          <p:nvPr/>
        </p:nvSpPr>
        <p:spPr>
          <a:xfrm>
            <a:off x="5943600" y="4535424"/>
            <a:ext cx="2606040" cy="365760"/>
          </a:xfrm>
          <a:prstGeom prst="rect">
            <a:avLst/>
          </a:prstGeom>
          <a:noFill/>
          <a:ln/>
        </p:spPr>
        <p:txBody>
          <a:bodyPr wrap="square" lIns="0" tIns="0" rIns="0" bIns="0" rtlCol="0" anchor="t"/>
          <a:lstStyle/>
          <a:p>
            <a:pPr marL="0" indent="0" algn="ctr">
              <a:buNone/>
            </a:pPr>
            <a:r>
              <a:rPr lang="en-US" sz="950" b="1" dirty="0">
                <a:solidFill>
                  <a:srgbClr val="F1F5F9"/>
                </a:solidFill>
                <a:latin typeface="Calibri" pitchFamily="34" charset="0"/>
                <a:ea typeface="Calibri" pitchFamily="34" charset="-122"/>
                <a:cs typeface="Calibri" pitchFamily="34" charset="-120"/>
              </a:rPr>
              <a:t>Unvalidated Access</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27</a:t>
            </a:r>
            <a:endParaRPr lang="en-US" sz="800" dirty="0"/>
          </a:p>
        </p:txBody>
      </p:sp>
      <p:sp>
        <p:nvSpPr>
          <p:cNvPr id="4" name="Text 2"/>
          <p:cNvSpPr/>
          <p:nvPr/>
        </p:nvSpPr>
        <p:spPr>
          <a:xfrm>
            <a:off x="548640" y="320040"/>
            <a:ext cx="7315200" cy="256032"/>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REFLECTION</a:t>
            </a:r>
            <a:endParaRPr lang="en-US" sz="1100" dirty="0"/>
          </a:p>
        </p:txBody>
      </p:sp>
      <p:sp>
        <p:nvSpPr>
          <p:cNvPr id="5" name="Text 3"/>
          <p:cNvSpPr/>
          <p:nvPr/>
        </p:nvSpPr>
        <p:spPr>
          <a:xfrm>
            <a:off x="548640" y="566928"/>
            <a:ext cx="7132320" cy="640080"/>
          </a:xfrm>
          <a:prstGeom prst="rect">
            <a:avLst/>
          </a:prstGeom>
          <a:noFill/>
          <a:ln/>
        </p:spPr>
        <p:txBody>
          <a:bodyPr wrap="square" lIns="0" tIns="0" rIns="0" bIns="0" rtlCol="0" anchor="ctr"/>
          <a:lstStyle/>
          <a:p>
            <a:pPr marL="0" indent="0">
              <a:buNone/>
            </a:pPr>
            <a:r>
              <a:rPr lang="en-US" sz="3000" b="1" dirty="0">
                <a:solidFill>
                  <a:srgbClr val="F1F5F9"/>
                </a:solidFill>
                <a:latin typeface="Cambria" pitchFamily="34" charset="0"/>
                <a:ea typeface="Cambria" pitchFamily="34" charset="-122"/>
                <a:cs typeface="Cambria" pitchFamily="34" charset="-120"/>
              </a:rPr>
              <a:t>Lessons Learned</a:t>
            </a:r>
            <a:endParaRPr lang="en-US" sz="3000" dirty="0"/>
          </a:p>
        </p:txBody>
      </p:sp>
      <p:sp>
        <p:nvSpPr>
          <p:cNvPr id="6" name="Text 4"/>
          <p:cNvSpPr/>
          <p:nvPr/>
        </p:nvSpPr>
        <p:spPr>
          <a:xfrm>
            <a:off x="548640" y="1170432"/>
            <a:ext cx="7955280" cy="274320"/>
          </a:xfrm>
          <a:prstGeom prst="rect">
            <a:avLst/>
          </a:prstGeom>
          <a:noFill/>
          <a:ln/>
        </p:spPr>
        <p:txBody>
          <a:bodyPr wrap="square" lIns="0" tIns="0" rIns="0" bIns="0" rtlCol="0" anchor="ctr"/>
          <a:lstStyle/>
          <a:p>
            <a:pPr marL="0" indent="0">
              <a:buNone/>
            </a:pPr>
            <a:r>
              <a:rPr lang="en-US" sz="1250" dirty="0">
                <a:solidFill>
                  <a:srgbClr val="9CB0C9"/>
                </a:solidFill>
                <a:latin typeface="Calibri" pitchFamily="34" charset="0"/>
                <a:ea typeface="Calibri" pitchFamily="34" charset="-122"/>
                <a:cs typeface="Calibri" pitchFamily="34" charset="-120"/>
              </a:rPr>
              <a:t>Across all 18 categories, a handful of principles kept resurfacing — the real takeaways from this project.</a:t>
            </a:r>
            <a:endParaRPr lang="en-US" sz="1250" dirty="0"/>
          </a:p>
        </p:txBody>
      </p:sp>
      <p:sp>
        <p:nvSpPr>
          <p:cNvPr id="7" name="Shape 5"/>
          <p:cNvSpPr/>
          <p:nvPr/>
        </p:nvSpPr>
        <p:spPr>
          <a:xfrm>
            <a:off x="548640" y="162763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8" name="Shape 6"/>
          <p:cNvSpPr/>
          <p:nvPr/>
        </p:nvSpPr>
        <p:spPr>
          <a:xfrm>
            <a:off x="713232" y="1792224"/>
            <a:ext cx="420624" cy="420624"/>
          </a:xfrm>
          <a:prstGeom prst="ellipse">
            <a:avLst/>
          </a:prstGeom>
          <a:solidFill>
            <a:srgbClr val="152238"/>
          </a:solidFill>
          <a:ln/>
        </p:spPr>
        <p:txBody>
          <a:bodyPr/>
          <a:lstStyle/>
          <a:p>
            <a:endParaRPr lang="en-GB"/>
          </a:p>
        </p:txBody>
      </p:sp>
      <p:pic>
        <p:nvPicPr>
          <p:cNvPr id="9" name="Image 0" descr="preencoded.png"/>
          <p:cNvPicPr>
            <a:picLocks noChangeAspect="1"/>
          </p:cNvPicPr>
          <p:nvPr/>
        </p:nvPicPr>
        <p:blipFill>
          <a:blip r:embed="rId3"/>
          <a:stretch>
            <a:fillRect/>
          </a:stretch>
        </p:blipFill>
        <p:spPr>
          <a:xfrm>
            <a:off x="807872" y="1886864"/>
            <a:ext cx="231343" cy="231343"/>
          </a:xfrm>
          <a:prstGeom prst="rect">
            <a:avLst/>
          </a:prstGeom>
        </p:spPr>
      </p:pic>
      <p:sp>
        <p:nvSpPr>
          <p:cNvPr id="10" name="Text 7"/>
          <p:cNvSpPr/>
          <p:nvPr/>
        </p:nvSpPr>
        <p:spPr>
          <a:xfrm>
            <a:off x="713232" y="228600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Never Trust User Input</a:t>
            </a:r>
            <a:endParaRPr lang="en-US" sz="1200" dirty="0"/>
          </a:p>
        </p:txBody>
      </p:sp>
      <p:sp>
        <p:nvSpPr>
          <p:cNvPr id="11" name="Text 8"/>
          <p:cNvSpPr/>
          <p:nvPr/>
        </p:nvSpPr>
        <p:spPr>
          <a:xfrm>
            <a:off x="713232" y="254203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Every field, header, and parameter must be validated server-side.</a:t>
            </a:r>
            <a:endParaRPr lang="en-US" sz="950" dirty="0"/>
          </a:p>
        </p:txBody>
      </p:sp>
      <p:sp>
        <p:nvSpPr>
          <p:cNvPr id="12" name="Shape 9"/>
          <p:cNvSpPr/>
          <p:nvPr/>
        </p:nvSpPr>
        <p:spPr>
          <a:xfrm>
            <a:off x="3337560" y="162763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3" name="Shape 10"/>
          <p:cNvSpPr/>
          <p:nvPr/>
        </p:nvSpPr>
        <p:spPr>
          <a:xfrm>
            <a:off x="3502152" y="1792224"/>
            <a:ext cx="420624" cy="420624"/>
          </a:xfrm>
          <a:prstGeom prst="ellipse">
            <a:avLst/>
          </a:prstGeom>
          <a:solidFill>
            <a:srgbClr val="152238"/>
          </a:solidFill>
          <a:ln/>
        </p:spPr>
        <p:txBody>
          <a:bodyPr/>
          <a:lstStyle/>
          <a:p>
            <a:endParaRPr lang="en-GB"/>
          </a:p>
        </p:txBody>
      </p:sp>
      <p:pic>
        <p:nvPicPr>
          <p:cNvPr id="14" name="Image 1" descr="preencoded.png"/>
          <p:cNvPicPr>
            <a:picLocks noChangeAspect="1"/>
          </p:cNvPicPr>
          <p:nvPr/>
        </p:nvPicPr>
        <p:blipFill>
          <a:blip r:embed="rId4"/>
          <a:stretch>
            <a:fillRect/>
          </a:stretch>
        </p:blipFill>
        <p:spPr>
          <a:xfrm>
            <a:off x="3596792" y="1886864"/>
            <a:ext cx="231343" cy="231343"/>
          </a:xfrm>
          <a:prstGeom prst="rect">
            <a:avLst/>
          </a:prstGeom>
        </p:spPr>
      </p:pic>
      <p:sp>
        <p:nvSpPr>
          <p:cNvPr id="15" name="Text 11"/>
          <p:cNvSpPr/>
          <p:nvPr/>
        </p:nvSpPr>
        <p:spPr>
          <a:xfrm>
            <a:off x="3502152" y="228600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Defense in Depth</a:t>
            </a:r>
            <a:endParaRPr lang="en-US" sz="1200" dirty="0"/>
          </a:p>
        </p:txBody>
      </p:sp>
      <p:sp>
        <p:nvSpPr>
          <p:cNvPr id="16" name="Text 12"/>
          <p:cNvSpPr/>
          <p:nvPr/>
        </p:nvSpPr>
        <p:spPr>
          <a:xfrm>
            <a:off x="3502152" y="254203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Layered controls matter more than any single fix, as the security levels showed.</a:t>
            </a:r>
            <a:endParaRPr lang="en-US" sz="950" dirty="0"/>
          </a:p>
        </p:txBody>
      </p:sp>
      <p:sp>
        <p:nvSpPr>
          <p:cNvPr id="17" name="Shape 13"/>
          <p:cNvSpPr/>
          <p:nvPr/>
        </p:nvSpPr>
        <p:spPr>
          <a:xfrm>
            <a:off x="6126480" y="162763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8" name="Shape 14"/>
          <p:cNvSpPr/>
          <p:nvPr/>
        </p:nvSpPr>
        <p:spPr>
          <a:xfrm>
            <a:off x="6291072" y="1792224"/>
            <a:ext cx="420624" cy="420624"/>
          </a:xfrm>
          <a:prstGeom prst="ellipse">
            <a:avLst/>
          </a:prstGeom>
          <a:solidFill>
            <a:srgbClr val="152238"/>
          </a:solidFill>
          <a:ln/>
        </p:spPr>
        <p:txBody>
          <a:bodyPr/>
          <a:lstStyle/>
          <a:p>
            <a:endParaRPr lang="en-GB"/>
          </a:p>
        </p:txBody>
      </p:sp>
      <p:pic>
        <p:nvPicPr>
          <p:cNvPr id="19" name="Image 2" descr="preencoded.png"/>
          <p:cNvPicPr>
            <a:picLocks noChangeAspect="1"/>
          </p:cNvPicPr>
          <p:nvPr/>
        </p:nvPicPr>
        <p:blipFill>
          <a:blip r:embed="rId5"/>
          <a:stretch>
            <a:fillRect/>
          </a:stretch>
        </p:blipFill>
        <p:spPr>
          <a:xfrm>
            <a:off x="6385712" y="1886864"/>
            <a:ext cx="231343" cy="231343"/>
          </a:xfrm>
          <a:prstGeom prst="rect">
            <a:avLst/>
          </a:prstGeom>
        </p:spPr>
      </p:pic>
      <p:sp>
        <p:nvSpPr>
          <p:cNvPr id="20" name="Text 15"/>
          <p:cNvSpPr/>
          <p:nvPr/>
        </p:nvSpPr>
        <p:spPr>
          <a:xfrm>
            <a:off x="6291072" y="228600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Secure by Default</a:t>
            </a:r>
            <a:endParaRPr lang="en-US" sz="1200" dirty="0"/>
          </a:p>
        </p:txBody>
      </p:sp>
      <p:sp>
        <p:nvSpPr>
          <p:cNvPr id="21" name="Text 16"/>
          <p:cNvSpPr/>
          <p:nvPr/>
        </p:nvSpPr>
        <p:spPr>
          <a:xfrm>
            <a:off x="6291072" y="254203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The 'Impossible' level proves vulnerabilities are preventable with sound design.</a:t>
            </a:r>
            <a:endParaRPr lang="en-US" sz="950" dirty="0"/>
          </a:p>
        </p:txBody>
      </p:sp>
      <p:sp>
        <p:nvSpPr>
          <p:cNvPr id="22" name="Shape 17"/>
          <p:cNvSpPr/>
          <p:nvPr/>
        </p:nvSpPr>
        <p:spPr>
          <a:xfrm>
            <a:off x="548640" y="318211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3" name="Shape 18"/>
          <p:cNvSpPr/>
          <p:nvPr/>
        </p:nvSpPr>
        <p:spPr>
          <a:xfrm>
            <a:off x="713232" y="3346704"/>
            <a:ext cx="420624" cy="420624"/>
          </a:xfrm>
          <a:prstGeom prst="ellipse">
            <a:avLst/>
          </a:prstGeom>
          <a:solidFill>
            <a:srgbClr val="152238"/>
          </a:solidFill>
          <a:ln/>
        </p:spPr>
        <p:txBody>
          <a:bodyPr/>
          <a:lstStyle/>
          <a:p>
            <a:endParaRPr lang="en-GB"/>
          </a:p>
        </p:txBody>
      </p:sp>
      <p:pic>
        <p:nvPicPr>
          <p:cNvPr id="24" name="Image 3" descr="preencoded.png"/>
          <p:cNvPicPr>
            <a:picLocks noChangeAspect="1"/>
          </p:cNvPicPr>
          <p:nvPr/>
        </p:nvPicPr>
        <p:blipFill>
          <a:blip r:embed="rId6"/>
          <a:stretch>
            <a:fillRect/>
          </a:stretch>
        </p:blipFill>
        <p:spPr>
          <a:xfrm>
            <a:off x="807872" y="3441344"/>
            <a:ext cx="231343" cy="231343"/>
          </a:xfrm>
          <a:prstGeom prst="rect">
            <a:avLst/>
          </a:prstGeom>
        </p:spPr>
      </p:pic>
      <p:sp>
        <p:nvSpPr>
          <p:cNvPr id="25" name="Text 19"/>
          <p:cNvSpPr/>
          <p:nvPr/>
        </p:nvSpPr>
        <p:spPr>
          <a:xfrm>
            <a:off x="713232" y="384048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Code Quality = Security</a:t>
            </a:r>
            <a:endParaRPr lang="en-US" sz="1200" dirty="0"/>
          </a:p>
        </p:txBody>
      </p:sp>
      <p:sp>
        <p:nvSpPr>
          <p:cNvPr id="26" name="Text 20"/>
          <p:cNvSpPr/>
          <p:nvPr/>
        </p:nvSpPr>
        <p:spPr>
          <a:xfrm>
            <a:off x="713232" y="409651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Most flaws trace back to missing validation, not exotic attack techniques.</a:t>
            </a:r>
            <a:endParaRPr lang="en-US" sz="950" dirty="0"/>
          </a:p>
        </p:txBody>
      </p:sp>
      <p:sp>
        <p:nvSpPr>
          <p:cNvPr id="27" name="Shape 21"/>
          <p:cNvSpPr/>
          <p:nvPr/>
        </p:nvSpPr>
        <p:spPr>
          <a:xfrm>
            <a:off x="3337560" y="318211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28" name="Shape 22"/>
          <p:cNvSpPr/>
          <p:nvPr/>
        </p:nvSpPr>
        <p:spPr>
          <a:xfrm>
            <a:off x="3502152" y="3346704"/>
            <a:ext cx="420624" cy="420624"/>
          </a:xfrm>
          <a:prstGeom prst="ellipse">
            <a:avLst/>
          </a:prstGeom>
          <a:solidFill>
            <a:srgbClr val="152238"/>
          </a:solidFill>
          <a:ln/>
        </p:spPr>
        <p:txBody>
          <a:bodyPr/>
          <a:lstStyle/>
          <a:p>
            <a:endParaRPr lang="en-GB"/>
          </a:p>
        </p:txBody>
      </p:sp>
      <p:pic>
        <p:nvPicPr>
          <p:cNvPr id="29" name="Image 4" descr="preencoded.png"/>
          <p:cNvPicPr>
            <a:picLocks noChangeAspect="1"/>
          </p:cNvPicPr>
          <p:nvPr/>
        </p:nvPicPr>
        <p:blipFill>
          <a:blip r:embed="rId7"/>
          <a:stretch>
            <a:fillRect/>
          </a:stretch>
        </p:blipFill>
        <p:spPr>
          <a:xfrm>
            <a:off x="3596792" y="3441344"/>
            <a:ext cx="231343" cy="231343"/>
          </a:xfrm>
          <a:prstGeom prst="rect">
            <a:avLst/>
          </a:prstGeom>
        </p:spPr>
      </p:pic>
      <p:sp>
        <p:nvSpPr>
          <p:cNvPr id="30" name="Text 23"/>
          <p:cNvSpPr/>
          <p:nvPr/>
        </p:nvSpPr>
        <p:spPr>
          <a:xfrm>
            <a:off x="3502152" y="384048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Security Is Everyone's Job</a:t>
            </a:r>
            <a:endParaRPr lang="en-US" sz="1200" dirty="0"/>
          </a:p>
        </p:txBody>
      </p:sp>
      <p:sp>
        <p:nvSpPr>
          <p:cNvPr id="31" name="Text 24"/>
          <p:cNvSpPr/>
          <p:nvPr/>
        </p:nvSpPr>
        <p:spPr>
          <a:xfrm>
            <a:off x="3502152" y="409651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Developers, testers, and reviewers all share responsibility for safe code.</a:t>
            </a:r>
            <a:endParaRPr lang="en-US" sz="950" dirty="0"/>
          </a:p>
        </p:txBody>
      </p:sp>
      <p:sp>
        <p:nvSpPr>
          <p:cNvPr id="32" name="Shape 25"/>
          <p:cNvSpPr/>
          <p:nvPr/>
        </p:nvSpPr>
        <p:spPr>
          <a:xfrm>
            <a:off x="6126480" y="3182112"/>
            <a:ext cx="2606040" cy="1371600"/>
          </a:xfrm>
          <a:prstGeom prst="roundRect">
            <a:avLst>
              <a:gd name="adj" fmla="val 6000"/>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33" name="Shape 26"/>
          <p:cNvSpPr/>
          <p:nvPr/>
        </p:nvSpPr>
        <p:spPr>
          <a:xfrm>
            <a:off x="6291072" y="3346704"/>
            <a:ext cx="420624" cy="420624"/>
          </a:xfrm>
          <a:prstGeom prst="ellipse">
            <a:avLst/>
          </a:prstGeom>
          <a:solidFill>
            <a:srgbClr val="152238"/>
          </a:solidFill>
          <a:ln/>
        </p:spPr>
        <p:txBody>
          <a:bodyPr/>
          <a:lstStyle/>
          <a:p>
            <a:endParaRPr lang="en-GB"/>
          </a:p>
        </p:txBody>
      </p:sp>
      <p:pic>
        <p:nvPicPr>
          <p:cNvPr id="34" name="Image 5" descr="preencoded.png"/>
          <p:cNvPicPr>
            <a:picLocks noChangeAspect="1"/>
          </p:cNvPicPr>
          <p:nvPr/>
        </p:nvPicPr>
        <p:blipFill>
          <a:blip r:embed="rId8"/>
          <a:stretch>
            <a:fillRect/>
          </a:stretch>
        </p:blipFill>
        <p:spPr>
          <a:xfrm>
            <a:off x="6385712" y="3441344"/>
            <a:ext cx="231343" cy="231343"/>
          </a:xfrm>
          <a:prstGeom prst="rect">
            <a:avLst/>
          </a:prstGeom>
        </p:spPr>
      </p:pic>
      <p:sp>
        <p:nvSpPr>
          <p:cNvPr id="35" name="Text 27"/>
          <p:cNvSpPr/>
          <p:nvPr/>
        </p:nvSpPr>
        <p:spPr>
          <a:xfrm>
            <a:off x="6291072" y="3840480"/>
            <a:ext cx="2276856" cy="274320"/>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Practice Builds Intuition</a:t>
            </a:r>
            <a:endParaRPr lang="en-US" sz="1200" dirty="0"/>
          </a:p>
        </p:txBody>
      </p:sp>
      <p:sp>
        <p:nvSpPr>
          <p:cNvPr id="36" name="Text 28"/>
          <p:cNvSpPr/>
          <p:nvPr/>
        </p:nvSpPr>
        <p:spPr>
          <a:xfrm>
            <a:off x="6291072" y="4096512"/>
            <a:ext cx="2276856" cy="411480"/>
          </a:xfrm>
          <a:prstGeom prst="rect">
            <a:avLst/>
          </a:prstGeom>
          <a:noFill/>
          <a:ln/>
        </p:spPr>
        <p:txBody>
          <a:bodyPr wrap="square" lIns="0" tIns="0" rIns="0" bIns="0" rtlCol="0" anchor="ctr"/>
          <a:lstStyle/>
          <a:p>
            <a:pPr marL="0" indent="0">
              <a:buNone/>
            </a:pPr>
            <a:r>
              <a:rPr lang="en-US" sz="950" dirty="0">
                <a:solidFill>
                  <a:srgbClr val="9CB0C9"/>
                </a:solidFill>
                <a:latin typeface="Calibri" pitchFamily="34" charset="0"/>
                <a:ea typeface="Calibri" pitchFamily="34" charset="-122"/>
                <a:cs typeface="Calibri" pitchFamily="34" charset="-120"/>
              </a:rPr>
              <a:t>Hands-on labs like DVWA build pattern recognition no textbook alone can.</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4846320"/>
            <a:ext cx="4572000" cy="228600"/>
          </a:xfrm>
          <a:prstGeom prst="rect">
            <a:avLst/>
          </a:prstGeom>
          <a:noFill/>
          <a:ln/>
        </p:spPr>
        <p:txBody>
          <a:bodyPr wrap="square" lIns="0" tIns="0" rIns="0" bIns="0" rtlCol="0" anchor="ctr"/>
          <a:lstStyle/>
          <a:p>
            <a:pPr marL="0" indent="0">
              <a:buNone/>
            </a:pPr>
            <a:r>
              <a:rPr lang="en-US" sz="800" kern="0" spc="100" dirty="0">
                <a:solidFill>
                  <a:srgbClr val="5C7191"/>
                </a:solidFill>
                <a:latin typeface="Calibri" pitchFamily="34" charset="0"/>
                <a:ea typeface="Calibri" pitchFamily="34" charset="-122"/>
                <a:cs typeface="Calibri" pitchFamily="34" charset="-120"/>
              </a:rPr>
              <a:t>DVWA  •  DEPI CYBERSECURITY PROJECT</a:t>
            </a:r>
            <a:endParaRPr lang="en-US" sz="800" dirty="0"/>
          </a:p>
        </p:txBody>
      </p:sp>
      <p:sp>
        <p:nvSpPr>
          <p:cNvPr id="3" name="Text 1"/>
          <p:cNvSpPr/>
          <p:nvPr/>
        </p:nvSpPr>
        <p:spPr>
          <a:xfrm>
            <a:off x="8229600" y="4846320"/>
            <a:ext cx="457200" cy="228600"/>
          </a:xfrm>
          <a:prstGeom prst="rect">
            <a:avLst/>
          </a:prstGeom>
          <a:noFill/>
          <a:ln/>
        </p:spPr>
        <p:txBody>
          <a:bodyPr wrap="square" lIns="0" tIns="0" rIns="0" bIns="0" rtlCol="0" anchor="ctr"/>
          <a:lstStyle/>
          <a:p>
            <a:pPr marL="0" indent="0" algn="r">
              <a:buNone/>
            </a:pPr>
            <a:r>
              <a:rPr lang="en-US" sz="800" dirty="0">
                <a:solidFill>
                  <a:srgbClr val="5C7191"/>
                </a:solidFill>
                <a:latin typeface="Calibri" pitchFamily="34" charset="0"/>
                <a:ea typeface="Calibri" pitchFamily="34" charset="-122"/>
                <a:cs typeface="Calibri" pitchFamily="34" charset="-120"/>
              </a:rPr>
              <a:t>28</a:t>
            </a:r>
            <a:endParaRPr lang="en-US" sz="800" dirty="0"/>
          </a:p>
        </p:txBody>
      </p:sp>
      <p:sp>
        <p:nvSpPr>
          <p:cNvPr id="4" name="Shape 2"/>
          <p:cNvSpPr/>
          <p:nvPr/>
        </p:nvSpPr>
        <p:spPr>
          <a:xfrm>
            <a:off x="6766560" y="-1463040"/>
            <a:ext cx="3291840" cy="3291840"/>
          </a:xfrm>
          <a:prstGeom prst="ellipse">
            <a:avLst/>
          </a:prstGeom>
          <a:solidFill>
            <a:srgbClr val="22D3EE">
              <a:alpha val="12000"/>
            </a:srgbClr>
          </a:solidFill>
          <a:ln/>
        </p:spPr>
        <p:txBody>
          <a:bodyPr/>
          <a:lstStyle/>
          <a:p>
            <a:endParaRPr lang="en-GB"/>
          </a:p>
        </p:txBody>
      </p:sp>
      <p:sp>
        <p:nvSpPr>
          <p:cNvPr id="5" name="Shape 3"/>
          <p:cNvSpPr/>
          <p:nvPr/>
        </p:nvSpPr>
        <p:spPr>
          <a:xfrm>
            <a:off x="7507224" y="-722376"/>
            <a:ext cx="1810512" cy="1810512"/>
          </a:xfrm>
          <a:prstGeom prst="ellipse">
            <a:avLst/>
          </a:prstGeom>
          <a:solidFill>
            <a:srgbClr val="22D3EE">
              <a:alpha val="18000"/>
            </a:srgbClr>
          </a:solidFill>
          <a:ln/>
        </p:spPr>
        <p:txBody>
          <a:bodyPr/>
          <a:lstStyle/>
          <a:p>
            <a:endParaRPr lang="en-GB"/>
          </a:p>
        </p:txBody>
      </p:sp>
      <p:sp>
        <p:nvSpPr>
          <p:cNvPr id="6" name="Text 4"/>
          <p:cNvSpPr/>
          <p:nvPr/>
        </p:nvSpPr>
        <p:spPr>
          <a:xfrm>
            <a:off x="548640" y="320040"/>
            <a:ext cx="7315200" cy="256032"/>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WRAP-UP</a:t>
            </a:r>
            <a:endParaRPr lang="en-US" sz="1100" dirty="0"/>
          </a:p>
        </p:txBody>
      </p:sp>
      <p:sp>
        <p:nvSpPr>
          <p:cNvPr id="7" name="Text 5"/>
          <p:cNvSpPr/>
          <p:nvPr/>
        </p:nvSpPr>
        <p:spPr>
          <a:xfrm>
            <a:off x="548640" y="566928"/>
            <a:ext cx="7132320" cy="640080"/>
          </a:xfrm>
          <a:prstGeom prst="rect">
            <a:avLst/>
          </a:prstGeom>
          <a:noFill/>
          <a:ln/>
        </p:spPr>
        <p:txBody>
          <a:bodyPr wrap="square" lIns="0" tIns="0" rIns="0" bIns="0" rtlCol="0" anchor="ctr"/>
          <a:lstStyle/>
          <a:p>
            <a:pPr marL="0" indent="0">
              <a:buNone/>
            </a:pPr>
            <a:r>
              <a:rPr lang="en-US" sz="3000" b="1" dirty="0">
                <a:solidFill>
                  <a:srgbClr val="F1F5F9"/>
                </a:solidFill>
                <a:latin typeface="Cambria" pitchFamily="34" charset="0"/>
                <a:ea typeface="Cambria" pitchFamily="34" charset="-122"/>
                <a:cs typeface="Cambria" pitchFamily="34" charset="-120"/>
              </a:rPr>
              <a:t>Conclusion</a:t>
            </a:r>
            <a:endParaRPr lang="en-US" sz="3000" dirty="0"/>
          </a:p>
        </p:txBody>
      </p:sp>
      <p:sp>
        <p:nvSpPr>
          <p:cNvPr id="8" name="Text 6"/>
          <p:cNvSpPr/>
          <p:nvPr/>
        </p:nvSpPr>
        <p:spPr>
          <a:xfrm>
            <a:off x="548640" y="1188720"/>
            <a:ext cx="7955280" cy="548640"/>
          </a:xfrm>
          <a:prstGeom prst="rect">
            <a:avLst/>
          </a:prstGeom>
          <a:noFill/>
          <a:ln/>
        </p:spPr>
        <p:txBody>
          <a:bodyPr wrap="square" lIns="0" tIns="0" rIns="0" bIns="0" rtlCol="0" anchor="ctr"/>
          <a:lstStyle/>
          <a:p>
            <a:pPr marL="0" indent="0">
              <a:lnSpc>
                <a:spcPct val="115000"/>
              </a:lnSpc>
              <a:buNone/>
            </a:pPr>
            <a:r>
              <a:rPr lang="en-US" sz="1300" dirty="0">
                <a:solidFill>
                  <a:srgbClr val="9CB0C9"/>
                </a:solidFill>
                <a:latin typeface="Calibri" pitchFamily="34" charset="0"/>
                <a:ea typeface="Calibri" pitchFamily="34" charset="-122"/>
                <a:cs typeface="Calibri" pitchFamily="34" charset="-120"/>
              </a:rPr>
              <a:t>This project gave our team a structured, hands-on view of how common web vulnerabilities work — and, more importantly, how they are prevented through secure development practices.</a:t>
            </a:r>
            <a:endParaRPr lang="en-US" sz="1300" dirty="0"/>
          </a:p>
        </p:txBody>
      </p:sp>
      <p:sp>
        <p:nvSpPr>
          <p:cNvPr id="9" name="Shape 7"/>
          <p:cNvSpPr/>
          <p:nvPr/>
        </p:nvSpPr>
        <p:spPr>
          <a:xfrm>
            <a:off x="548640" y="1965960"/>
            <a:ext cx="1828800" cy="1371600"/>
          </a:xfrm>
          <a:prstGeom prst="roundRect">
            <a:avLst>
              <a:gd name="adj" fmla="val 6667"/>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0" name="Text 8"/>
          <p:cNvSpPr/>
          <p:nvPr/>
        </p:nvSpPr>
        <p:spPr>
          <a:xfrm>
            <a:off x="548640" y="2130552"/>
            <a:ext cx="1828800" cy="548640"/>
          </a:xfrm>
          <a:prstGeom prst="rect">
            <a:avLst/>
          </a:prstGeom>
          <a:noFill/>
          <a:ln/>
        </p:spPr>
        <p:txBody>
          <a:bodyPr wrap="square" lIns="0" tIns="0" rIns="0" bIns="0" rtlCol="0" anchor="ctr"/>
          <a:lstStyle/>
          <a:p>
            <a:pPr marL="0" indent="0" algn="ctr">
              <a:buNone/>
            </a:pPr>
            <a:r>
              <a:rPr lang="en-US" sz="3000" b="1" dirty="0">
                <a:solidFill>
                  <a:srgbClr val="22D3EE"/>
                </a:solidFill>
                <a:latin typeface="Cambria" pitchFamily="34" charset="0"/>
                <a:ea typeface="Cambria" pitchFamily="34" charset="-122"/>
                <a:cs typeface="Cambria" pitchFamily="34" charset="-120"/>
              </a:rPr>
              <a:t>18</a:t>
            </a:r>
            <a:endParaRPr lang="en-US" sz="3000" dirty="0"/>
          </a:p>
        </p:txBody>
      </p:sp>
      <p:sp>
        <p:nvSpPr>
          <p:cNvPr id="11" name="Text 9"/>
          <p:cNvSpPr/>
          <p:nvPr/>
        </p:nvSpPr>
        <p:spPr>
          <a:xfrm>
            <a:off x="640080" y="2743200"/>
            <a:ext cx="1645920" cy="5029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Vulnerability</a:t>
            </a:r>
            <a:endParaRPr lang="en-US" sz="950" dirty="0"/>
          </a:p>
          <a:p>
            <a:pPr marL="0" indent="0" algn="ctr">
              <a:buNone/>
            </a:pPr>
            <a:r>
              <a:rPr lang="en-US" sz="950" dirty="0">
                <a:solidFill>
                  <a:srgbClr val="9CB0C9"/>
                </a:solidFill>
                <a:latin typeface="Calibri" pitchFamily="34" charset="0"/>
                <a:ea typeface="Calibri" pitchFamily="34" charset="-122"/>
                <a:cs typeface="Calibri" pitchFamily="34" charset="-120"/>
              </a:rPr>
              <a:t>Categories Studied</a:t>
            </a:r>
            <a:endParaRPr lang="en-US" sz="950" dirty="0"/>
          </a:p>
        </p:txBody>
      </p:sp>
      <p:sp>
        <p:nvSpPr>
          <p:cNvPr id="12" name="Shape 10"/>
          <p:cNvSpPr/>
          <p:nvPr/>
        </p:nvSpPr>
        <p:spPr>
          <a:xfrm>
            <a:off x="2596896" y="1965960"/>
            <a:ext cx="1828800" cy="1371600"/>
          </a:xfrm>
          <a:prstGeom prst="roundRect">
            <a:avLst>
              <a:gd name="adj" fmla="val 6667"/>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3" name="Text 11"/>
          <p:cNvSpPr/>
          <p:nvPr/>
        </p:nvSpPr>
        <p:spPr>
          <a:xfrm>
            <a:off x="2596896" y="2130552"/>
            <a:ext cx="1828800" cy="548640"/>
          </a:xfrm>
          <a:prstGeom prst="rect">
            <a:avLst/>
          </a:prstGeom>
          <a:noFill/>
          <a:ln/>
        </p:spPr>
        <p:txBody>
          <a:bodyPr wrap="square" lIns="0" tIns="0" rIns="0" bIns="0" rtlCol="0" anchor="ctr"/>
          <a:lstStyle/>
          <a:p>
            <a:pPr marL="0" indent="0" algn="ctr">
              <a:buNone/>
            </a:pPr>
            <a:r>
              <a:rPr lang="en-US" sz="3000" b="1" dirty="0">
                <a:solidFill>
                  <a:srgbClr val="22D3EE"/>
                </a:solidFill>
                <a:latin typeface="Cambria" pitchFamily="34" charset="0"/>
                <a:ea typeface="Cambria" pitchFamily="34" charset="-122"/>
                <a:cs typeface="Cambria" pitchFamily="34" charset="-120"/>
              </a:rPr>
              <a:t>4</a:t>
            </a:r>
            <a:endParaRPr lang="en-US" sz="3000" dirty="0"/>
          </a:p>
        </p:txBody>
      </p:sp>
      <p:sp>
        <p:nvSpPr>
          <p:cNvPr id="14" name="Text 12"/>
          <p:cNvSpPr/>
          <p:nvPr/>
        </p:nvSpPr>
        <p:spPr>
          <a:xfrm>
            <a:off x="2688336" y="2743200"/>
            <a:ext cx="1645920" cy="5029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Security Levels</a:t>
            </a:r>
            <a:endParaRPr lang="en-US" sz="950" dirty="0"/>
          </a:p>
          <a:p>
            <a:pPr marL="0" indent="0" algn="ctr">
              <a:buNone/>
            </a:pPr>
            <a:r>
              <a:rPr lang="en-US" sz="950" dirty="0">
                <a:solidFill>
                  <a:srgbClr val="9CB0C9"/>
                </a:solidFill>
                <a:latin typeface="Calibri" pitchFamily="34" charset="0"/>
                <a:ea typeface="Calibri" pitchFamily="34" charset="-122"/>
                <a:cs typeface="Calibri" pitchFamily="34" charset="-120"/>
              </a:rPr>
              <a:t>Compared</a:t>
            </a:r>
            <a:endParaRPr lang="en-US" sz="950" dirty="0"/>
          </a:p>
        </p:txBody>
      </p:sp>
      <p:sp>
        <p:nvSpPr>
          <p:cNvPr id="15" name="Shape 13"/>
          <p:cNvSpPr/>
          <p:nvPr/>
        </p:nvSpPr>
        <p:spPr>
          <a:xfrm>
            <a:off x="4645152" y="1965960"/>
            <a:ext cx="1828800" cy="1371600"/>
          </a:xfrm>
          <a:prstGeom prst="roundRect">
            <a:avLst>
              <a:gd name="adj" fmla="val 6667"/>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6" name="Text 14"/>
          <p:cNvSpPr/>
          <p:nvPr/>
        </p:nvSpPr>
        <p:spPr>
          <a:xfrm>
            <a:off x="4645152" y="2130552"/>
            <a:ext cx="1828800" cy="548640"/>
          </a:xfrm>
          <a:prstGeom prst="rect">
            <a:avLst/>
          </a:prstGeom>
          <a:noFill/>
          <a:ln/>
        </p:spPr>
        <p:txBody>
          <a:bodyPr wrap="square" lIns="0" tIns="0" rIns="0" bIns="0" rtlCol="0" anchor="ctr"/>
          <a:lstStyle/>
          <a:p>
            <a:pPr marL="0" indent="0" algn="ctr">
              <a:buNone/>
            </a:pPr>
            <a:r>
              <a:rPr lang="en-US" sz="3000" b="1" dirty="0">
                <a:solidFill>
                  <a:srgbClr val="22D3EE"/>
                </a:solidFill>
                <a:latin typeface="Cambria" pitchFamily="34" charset="0"/>
                <a:ea typeface="Cambria" pitchFamily="34" charset="-122"/>
                <a:cs typeface="Cambria" pitchFamily="34" charset="-120"/>
              </a:rPr>
              <a:t>3-Tier</a:t>
            </a:r>
            <a:endParaRPr lang="en-US" sz="3000" dirty="0"/>
          </a:p>
        </p:txBody>
      </p:sp>
      <p:sp>
        <p:nvSpPr>
          <p:cNvPr id="17" name="Text 15"/>
          <p:cNvSpPr/>
          <p:nvPr/>
        </p:nvSpPr>
        <p:spPr>
          <a:xfrm>
            <a:off x="4736592" y="2743200"/>
            <a:ext cx="1645920" cy="5029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Architecture</a:t>
            </a:r>
            <a:endParaRPr lang="en-US" sz="950" dirty="0"/>
          </a:p>
          <a:p>
            <a:pPr marL="0" indent="0" algn="ctr">
              <a:buNone/>
            </a:pPr>
            <a:r>
              <a:rPr lang="en-US" sz="950" dirty="0">
                <a:solidFill>
                  <a:srgbClr val="9CB0C9"/>
                </a:solidFill>
                <a:latin typeface="Calibri" pitchFamily="34" charset="0"/>
                <a:ea typeface="Calibri" pitchFamily="34" charset="-122"/>
                <a:cs typeface="Calibri" pitchFamily="34" charset="-120"/>
              </a:rPr>
              <a:t>Analyzed</a:t>
            </a:r>
            <a:endParaRPr lang="en-US" sz="950" dirty="0"/>
          </a:p>
        </p:txBody>
      </p:sp>
      <p:sp>
        <p:nvSpPr>
          <p:cNvPr id="18" name="Shape 16"/>
          <p:cNvSpPr/>
          <p:nvPr/>
        </p:nvSpPr>
        <p:spPr>
          <a:xfrm>
            <a:off x="6693408" y="1965960"/>
            <a:ext cx="1828800" cy="1371600"/>
          </a:xfrm>
          <a:prstGeom prst="roundRect">
            <a:avLst>
              <a:gd name="adj" fmla="val 6667"/>
            </a:avLst>
          </a:prstGeom>
          <a:solidFill>
            <a:srgbClr val="111A2E"/>
          </a:solidFill>
          <a:ln w="9525">
            <a:solidFill>
              <a:srgbClr val="233047"/>
            </a:solidFill>
            <a:prstDash val="solid"/>
          </a:ln>
          <a:effectLst>
            <a:outerShdw blurRad="101600" dist="38100" dir="2700000" algn="bl" rotWithShape="0">
              <a:srgbClr val="000000">
                <a:alpha val="35000"/>
              </a:srgbClr>
            </a:outerShdw>
          </a:effectLst>
        </p:spPr>
        <p:txBody>
          <a:bodyPr/>
          <a:lstStyle/>
          <a:p>
            <a:endParaRPr lang="en-GB"/>
          </a:p>
        </p:txBody>
      </p:sp>
      <p:sp>
        <p:nvSpPr>
          <p:cNvPr id="19" name="Text 17"/>
          <p:cNvSpPr/>
          <p:nvPr/>
        </p:nvSpPr>
        <p:spPr>
          <a:xfrm>
            <a:off x="6693408" y="2130552"/>
            <a:ext cx="1828800" cy="548640"/>
          </a:xfrm>
          <a:prstGeom prst="rect">
            <a:avLst/>
          </a:prstGeom>
          <a:noFill/>
          <a:ln/>
        </p:spPr>
        <p:txBody>
          <a:bodyPr wrap="square" lIns="0" tIns="0" rIns="0" bIns="0" rtlCol="0" anchor="ctr"/>
          <a:lstStyle/>
          <a:p>
            <a:pPr marL="0" indent="0" algn="ctr">
              <a:buNone/>
            </a:pPr>
            <a:r>
              <a:rPr lang="en-US" sz="3000" b="1" dirty="0">
                <a:solidFill>
                  <a:srgbClr val="22D3EE"/>
                </a:solidFill>
                <a:latin typeface="Cambria" pitchFamily="34" charset="0"/>
                <a:ea typeface="Cambria" pitchFamily="34" charset="-122"/>
                <a:cs typeface="Cambria" pitchFamily="34" charset="-120"/>
              </a:rPr>
              <a:t>100%</a:t>
            </a:r>
            <a:endParaRPr lang="en-US" sz="3000" dirty="0"/>
          </a:p>
        </p:txBody>
      </p:sp>
      <p:sp>
        <p:nvSpPr>
          <p:cNvPr id="20" name="Text 18"/>
          <p:cNvSpPr/>
          <p:nvPr/>
        </p:nvSpPr>
        <p:spPr>
          <a:xfrm>
            <a:off x="6784848" y="2743200"/>
            <a:ext cx="1645920" cy="502920"/>
          </a:xfrm>
          <a:prstGeom prst="rect">
            <a:avLst/>
          </a:prstGeom>
          <a:noFill/>
          <a:ln/>
        </p:spPr>
        <p:txBody>
          <a:bodyPr wrap="square" lIns="0" tIns="0" rIns="0" bIns="0" rtlCol="0" anchor="ctr"/>
          <a:lstStyle/>
          <a:p>
            <a:pPr marL="0" indent="0" algn="ctr">
              <a:buNone/>
            </a:pPr>
            <a:r>
              <a:rPr lang="en-US" sz="950" dirty="0">
                <a:solidFill>
                  <a:srgbClr val="9CB0C9"/>
                </a:solidFill>
                <a:latin typeface="Calibri" pitchFamily="34" charset="0"/>
                <a:ea typeface="Calibri" pitchFamily="34" charset="-122"/>
                <a:cs typeface="Calibri" pitchFamily="34" charset="-120"/>
              </a:rPr>
              <a:t>Legal, Isolated</a:t>
            </a:r>
            <a:endParaRPr lang="en-US" sz="950" dirty="0"/>
          </a:p>
          <a:p>
            <a:pPr marL="0" indent="0" algn="ctr">
              <a:buNone/>
            </a:pPr>
            <a:r>
              <a:rPr lang="en-US" sz="950" dirty="0">
                <a:solidFill>
                  <a:srgbClr val="9CB0C9"/>
                </a:solidFill>
                <a:latin typeface="Calibri" pitchFamily="34" charset="0"/>
                <a:ea typeface="Calibri" pitchFamily="34" charset="-122"/>
                <a:cs typeface="Calibri" pitchFamily="34" charset="-120"/>
              </a:rPr>
              <a:t>Lab Environment</a:t>
            </a:r>
            <a:endParaRPr lang="en-US" sz="950" dirty="0"/>
          </a:p>
        </p:txBody>
      </p:sp>
      <p:sp>
        <p:nvSpPr>
          <p:cNvPr id="21" name="Text 19"/>
          <p:cNvSpPr/>
          <p:nvPr/>
        </p:nvSpPr>
        <p:spPr>
          <a:xfrm>
            <a:off x="548640" y="3611880"/>
            <a:ext cx="7955280" cy="365760"/>
          </a:xfrm>
          <a:prstGeom prst="rect">
            <a:avLst/>
          </a:prstGeom>
          <a:noFill/>
          <a:ln/>
        </p:spPr>
        <p:txBody>
          <a:bodyPr wrap="square" lIns="0" tIns="0" rIns="0" bIns="0" rtlCol="0" anchor="ctr"/>
          <a:lstStyle/>
          <a:p>
            <a:pPr marL="0" indent="0" algn="ctr">
              <a:buNone/>
            </a:pPr>
            <a:r>
              <a:rPr lang="en-US" sz="1350" b="1" i="1" dirty="0">
                <a:solidFill>
                  <a:srgbClr val="F1F5F9"/>
                </a:solidFill>
                <a:latin typeface="Calibri" pitchFamily="34" charset="0"/>
                <a:ea typeface="Calibri" pitchFamily="34" charset="-122"/>
                <a:cs typeface="Calibri" pitchFamily="34" charset="-120"/>
              </a:rPr>
              <a:t>Understanding how attacks work is the foundation of building software that resists them.</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914400" y="-1463040"/>
            <a:ext cx="4023360" cy="4023360"/>
          </a:xfrm>
          <a:prstGeom prst="ellipse">
            <a:avLst/>
          </a:prstGeom>
          <a:solidFill>
            <a:srgbClr val="22D3EE">
              <a:alpha val="12000"/>
            </a:srgbClr>
          </a:solidFill>
          <a:ln/>
        </p:spPr>
        <p:txBody>
          <a:bodyPr/>
          <a:lstStyle/>
          <a:p>
            <a:endParaRPr lang="en-GB"/>
          </a:p>
        </p:txBody>
      </p:sp>
      <p:sp>
        <p:nvSpPr>
          <p:cNvPr id="3" name="Shape 1"/>
          <p:cNvSpPr/>
          <p:nvPr/>
        </p:nvSpPr>
        <p:spPr>
          <a:xfrm>
            <a:off x="-9144" y="-557784"/>
            <a:ext cx="2212848" cy="2212848"/>
          </a:xfrm>
          <a:prstGeom prst="ellipse">
            <a:avLst/>
          </a:prstGeom>
          <a:solidFill>
            <a:srgbClr val="22D3EE">
              <a:alpha val="18000"/>
            </a:srgbClr>
          </a:solidFill>
          <a:ln/>
        </p:spPr>
        <p:txBody>
          <a:bodyPr/>
          <a:lstStyle/>
          <a:p>
            <a:endParaRPr lang="en-GB"/>
          </a:p>
        </p:txBody>
      </p:sp>
      <p:sp>
        <p:nvSpPr>
          <p:cNvPr id="4" name="Shape 2"/>
          <p:cNvSpPr/>
          <p:nvPr/>
        </p:nvSpPr>
        <p:spPr>
          <a:xfrm>
            <a:off x="5852160" y="2377440"/>
            <a:ext cx="4389120" cy="4389120"/>
          </a:xfrm>
          <a:prstGeom prst="ellipse">
            <a:avLst/>
          </a:prstGeom>
          <a:solidFill>
            <a:srgbClr val="0E7490">
              <a:alpha val="12000"/>
            </a:srgbClr>
          </a:solidFill>
          <a:ln/>
        </p:spPr>
        <p:txBody>
          <a:bodyPr/>
          <a:lstStyle/>
          <a:p>
            <a:endParaRPr lang="en-GB"/>
          </a:p>
        </p:txBody>
      </p:sp>
      <p:sp>
        <p:nvSpPr>
          <p:cNvPr id="5" name="Shape 3"/>
          <p:cNvSpPr/>
          <p:nvPr/>
        </p:nvSpPr>
        <p:spPr>
          <a:xfrm>
            <a:off x="6839712" y="3364992"/>
            <a:ext cx="2414016" cy="2414016"/>
          </a:xfrm>
          <a:prstGeom prst="ellipse">
            <a:avLst/>
          </a:prstGeom>
          <a:solidFill>
            <a:srgbClr val="0E7490">
              <a:alpha val="18000"/>
            </a:srgbClr>
          </a:solidFill>
          <a:ln/>
        </p:spPr>
        <p:txBody>
          <a:bodyPr/>
          <a:lstStyle/>
          <a:p>
            <a:endParaRPr lang="en-GB"/>
          </a:p>
        </p:txBody>
      </p:sp>
      <p:sp>
        <p:nvSpPr>
          <p:cNvPr id="6" name="Shape 4"/>
          <p:cNvSpPr/>
          <p:nvPr/>
        </p:nvSpPr>
        <p:spPr>
          <a:xfrm>
            <a:off x="640080" y="3931920"/>
            <a:ext cx="32004" cy="32004"/>
          </a:xfrm>
          <a:prstGeom prst="ellipse">
            <a:avLst/>
          </a:prstGeom>
          <a:solidFill>
            <a:srgbClr val="22D3EE">
              <a:alpha val="45000"/>
            </a:srgbClr>
          </a:solidFill>
          <a:ln/>
        </p:spPr>
        <p:txBody>
          <a:bodyPr/>
          <a:lstStyle/>
          <a:p>
            <a:endParaRPr lang="en-GB"/>
          </a:p>
        </p:txBody>
      </p:sp>
      <p:sp>
        <p:nvSpPr>
          <p:cNvPr id="7" name="Shape 5"/>
          <p:cNvSpPr/>
          <p:nvPr/>
        </p:nvSpPr>
        <p:spPr>
          <a:xfrm>
            <a:off x="640080" y="4114800"/>
            <a:ext cx="32004" cy="32004"/>
          </a:xfrm>
          <a:prstGeom prst="ellipse">
            <a:avLst/>
          </a:prstGeom>
          <a:solidFill>
            <a:srgbClr val="22D3EE">
              <a:alpha val="45000"/>
            </a:srgbClr>
          </a:solidFill>
          <a:ln/>
        </p:spPr>
        <p:txBody>
          <a:bodyPr/>
          <a:lstStyle/>
          <a:p>
            <a:endParaRPr lang="en-GB"/>
          </a:p>
        </p:txBody>
      </p:sp>
      <p:sp>
        <p:nvSpPr>
          <p:cNvPr id="8" name="Shape 6"/>
          <p:cNvSpPr/>
          <p:nvPr/>
        </p:nvSpPr>
        <p:spPr>
          <a:xfrm>
            <a:off x="640080" y="4297680"/>
            <a:ext cx="32004" cy="32004"/>
          </a:xfrm>
          <a:prstGeom prst="ellipse">
            <a:avLst/>
          </a:prstGeom>
          <a:solidFill>
            <a:srgbClr val="22D3EE">
              <a:alpha val="45000"/>
            </a:srgbClr>
          </a:solidFill>
          <a:ln/>
        </p:spPr>
        <p:txBody>
          <a:bodyPr/>
          <a:lstStyle/>
          <a:p>
            <a:endParaRPr lang="en-GB"/>
          </a:p>
        </p:txBody>
      </p:sp>
      <p:sp>
        <p:nvSpPr>
          <p:cNvPr id="9" name="Shape 7"/>
          <p:cNvSpPr/>
          <p:nvPr/>
        </p:nvSpPr>
        <p:spPr>
          <a:xfrm>
            <a:off x="640080" y="4480560"/>
            <a:ext cx="32004" cy="32004"/>
          </a:xfrm>
          <a:prstGeom prst="ellipse">
            <a:avLst/>
          </a:prstGeom>
          <a:solidFill>
            <a:srgbClr val="22D3EE">
              <a:alpha val="45000"/>
            </a:srgbClr>
          </a:solidFill>
          <a:ln/>
        </p:spPr>
        <p:txBody>
          <a:bodyPr/>
          <a:lstStyle/>
          <a:p>
            <a:endParaRPr lang="en-GB"/>
          </a:p>
        </p:txBody>
      </p:sp>
      <p:sp>
        <p:nvSpPr>
          <p:cNvPr id="10" name="Shape 8"/>
          <p:cNvSpPr/>
          <p:nvPr/>
        </p:nvSpPr>
        <p:spPr>
          <a:xfrm>
            <a:off x="822960" y="3931920"/>
            <a:ext cx="32004" cy="32004"/>
          </a:xfrm>
          <a:prstGeom prst="ellipse">
            <a:avLst/>
          </a:prstGeom>
          <a:solidFill>
            <a:srgbClr val="22D3EE">
              <a:alpha val="45000"/>
            </a:srgbClr>
          </a:solidFill>
          <a:ln/>
        </p:spPr>
        <p:txBody>
          <a:bodyPr/>
          <a:lstStyle/>
          <a:p>
            <a:endParaRPr lang="en-GB"/>
          </a:p>
        </p:txBody>
      </p:sp>
      <p:sp>
        <p:nvSpPr>
          <p:cNvPr id="11" name="Shape 9"/>
          <p:cNvSpPr/>
          <p:nvPr/>
        </p:nvSpPr>
        <p:spPr>
          <a:xfrm>
            <a:off x="822960" y="4114800"/>
            <a:ext cx="32004" cy="32004"/>
          </a:xfrm>
          <a:prstGeom prst="ellipse">
            <a:avLst/>
          </a:prstGeom>
          <a:solidFill>
            <a:srgbClr val="22D3EE">
              <a:alpha val="45000"/>
            </a:srgbClr>
          </a:solidFill>
          <a:ln/>
        </p:spPr>
        <p:txBody>
          <a:bodyPr/>
          <a:lstStyle/>
          <a:p>
            <a:endParaRPr lang="en-GB"/>
          </a:p>
        </p:txBody>
      </p:sp>
      <p:sp>
        <p:nvSpPr>
          <p:cNvPr id="12" name="Shape 10"/>
          <p:cNvSpPr/>
          <p:nvPr/>
        </p:nvSpPr>
        <p:spPr>
          <a:xfrm>
            <a:off x="822960" y="4297680"/>
            <a:ext cx="32004" cy="32004"/>
          </a:xfrm>
          <a:prstGeom prst="ellipse">
            <a:avLst/>
          </a:prstGeom>
          <a:solidFill>
            <a:srgbClr val="22D3EE">
              <a:alpha val="45000"/>
            </a:srgbClr>
          </a:solidFill>
          <a:ln/>
        </p:spPr>
        <p:txBody>
          <a:bodyPr/>
          <a:lstStyle/>
          <a:p>
            <a:endParaRPr lang="en-GB"/>
          </a:p>
        </p:txBody>
      </p:sp>
      <p:sp>
        <p:nvSpPr>
          <p:cNvPr id="13" name="Shape 11"/>
          <p:cNvSpPr/>
          <p:nvPr/>
        </p:nvSpPr>
        <p:spPr>
          <a:xfrm>
            <a:off x="822960" y="4480560"/>
            <a:ext cx="32004" cy="32004"/>
          </a:xfrm>
          <a:prstGeom prst="ellipse">
            <a:avLst/>
          </a:prstGeom>
          <a:solidFill>
            <a:srgbClr val="22D3EE">
              <a:alpha val="45000"/>
            </a:srgbClr>
          </a:solidFill>
          <a:ln/>
        </p:spPr>
        <p:txBody>
          <a:bodyPr/>
          <a:lstStyle/>
          <a:p>
            <a:endParaRPr lang="en-GB"/>
          </a:p>
        </p:txBody>
      </p:sp>
      <p:sp>
        <p:nvSpPr>
          <p:cNvPr id="14" name="Shape 12"/>
          <p:cNvSpPr/>
          <p:nvPr/>
        </p:nvSpPr>
        <p:spPr>
          <a:xfrm>
            <a:off x="1005840" y="3931920"/>
            <a:ext cx="32004" cy="32004"/>
          </a:xfrm>
          <a:prstGeom prst="ellipse">
            <a:avLst/>
          </a:prstGeom>
          <a:solidFill>
            <a:srgbClr val="22D3EE">
              <a:alpha val="45000"/>
            </a:srgbClr>
          </a:solidFill>
          <a:ln/>
        </p:spPr>
        <p:txBody>
          <a:bodyPr/>
          <a:lstStyle/>
          <a:p>
            <a:endParaRPr lang="en-GB"/>
          </a:p>
        </p:txBody>
      </p:sp>
      <p:sp>
        <p:nvSpPr>
          <p:cNvPr id="15" name="Shape 13"/>
          <p:cNvSpPr/>
          <p:nvPr/>
        </p:nvSpPr>
        <p:spPr>
          <a:xfrm>
            <a:off x="1005840" y="4114800"/>
            <a:ext cx="32004" cy="32004"/>
          </a:xfrm>
          <a:prstGeom prst="ellipse">
            <a:avLst/>
          </a:prstGeom>
          <a:solidFill>
            <a:srgbClr val="22D3EE">
              <a:alpha val="45000"/>
            </a:srgbClr>
          </a:solidFill>
          <a:ln/>
        </p:spPr>
        <p:txBody>
          <a:bodyPr/>
          <a:lstStyle/>
          <a:p>
            <a:endParaRPr lang="en-GB"/>
          </a:p>
        </p:txBody>
      </p:sp>
      <p:sp>
        <p:nvSpPr>
          <p:cNvPr id="16" name="Shape 14"/>
          <p:cNvSpPr/>
          <p:nvPr/>
        </p:nvSpPr>
        <p:spPr>
          <a:xfrm>
            <a:off x="1005840" y="4297680"/>
            <a:ext cx="32004" cy="32004"/>
          </a:xfrm>
          <a:prstGeom prst="ellipse">
            <a:avLst/>
          </a:prstGeom>
          <a:solidFill>
            <a:srgbClr val="22D3EE">
              <a:alpha val="45000"/>
            </a:srgbClr>
          </a:solidFill>
          <a:ln/>
        </p:spPr>
        <p:txBody>
          <a:bodyPr/>
          <a:lstStyle/>
          <a:p>
            <a:endParaRPr lang="en-GB"/>
          </a:p>
        </p:txBody>
      </p:sp>
      <p:sp>
        <p:nvSpPr>
          <p:cNvPr id="17" name="Shape 15"/>
          <p:cNvSpPr/>
          <p:nvPr/>
        </p:nvSpPr>
        <p:spPr>
          <a:xfrm>
            <a:off x="1005840" y="4480560"/>
            <a:ext cx="32004" cy="32004"/>
          </a:xfrm>
          <a:prstGeom prst="ellipse">
            <a:avLst/>
          </a:prstGeom>
          <a:solidFill>
            <a:srgbClr val="22D3EE">
              <a:alpha val="45000"/>
            </a:srgbClr>
          </a:solidFill>
          <a:ln/>
        </p:spPr>
        <p:txBody>
          <a:bodyPr/>
          <a:lstStyle/>
          <a:p>
            <a:endParaRPr lang="en-GB"/>
          </a:p>
        </p:txBody>
      </p:sp>
      <p:sp>
        <p:nvSpPr>
          <p:cNvPr id="18" name="Shape 16"/>
          <p:cNvSpPr/>
          <p:nvPr/>
        </p:nvSpPr>
        <p:spPr>
          <a:xfrm>
            <a:off x="1188720" y="3931920"/>
            <a:ext cx="32004" cy="32004"/>
          </a:xfrm>
          <a:prstGeom prst="ellipse">
            <a:avLst/>
          </a:prstGeom>
          <a:solidFill>
            <a:srgbClr val="22D3EE">
              <a:alpha val="45000"/>
            </a:srgbClr>
          </a:solidFill>
          <a:ln/>
        </p:spPr>
        <p:txBody>
          <a:bodyPr/>
          <a:lstStyle/>
          <a:p>
            <a:endParaRPr lang="en-GB"/>
          </a:p>
        </p:txBody>
      </p:sp>
      <p:sp>
        <p:nvSpPr>
          <p:cNvPr id="19" name="Shape 17"/>
          <p:cNvSpPr/>
          <p:nvPr/>
        </p:nvSpPr>
        <p:spPr>
          <a:xfrm>
            <a:off x="1188720" y="4114800"/>
            <a:ext cx="32004" cy="32004"/>
          </a:xfrm>
          <a:prstGeom prst="ellipse">
            <a:avLst/>
          </a:prstGeom>
          <a:solidFill>
            <a:srgbClr val="22D3EE">
              <a:alpha val="45000"/>
            </a:srgbClr>
          </a:solidFill>
          <a:ln/>
        </p:spPr>
        <p:txBody>
          <a:bodyPr/>
          <a:lstStyle/>
          <a:p>
            <a:endParaRPr lang="en-GB"/>
          </a:p>
        </p:txBody>
      </p:sp>
      <p:sp>
        <p:nvSpPr>
          <p:cNvPr id="20" name="Shape 18"/>
          <p:cNvSpPr/>
          <p:nvPr/>
        </p:nvSpPr>
        <p:spPr>
          <a:xfrm>
            <a:off x="1188720" y="4297680"/>
            <a:ext cx="32004" cy="32004"/>
          </a:xfrm>
          <a:prstGeom prst="ellipse">
            <a:avLst/>
          </a:prstGeom>
          <a:solidFill>
            <a:srgbClr val="22D3EE">
              <a:alpha val="45000"/>
            </a:srgbClr>
          </a:solidFill>
          <a:ln/>
        </p:spPr>
        <p:txBody>
          <a:bodyPr/>
          <a:lstStyle/>
          <a:p>
            <a:endParaRPr lang="en-GB"/>
          </a:p>
        </p:txBody>
      </p:sp>
      <p:sp>
        <p:nvSpPr>
          <p:cNvPr id="21" name="Shape 19"/>
          <p:cNvSpPr/>
          <p:nvPr/>
        </p:nvSpPr>
        <p:spPr>
          <a:xfrm>
            <a:off x="1188720" y="4480560"/>
            <a:ext cx="32004" cy="32004"/>
          </a:xfrm>
          <a:prstGeom prst="ellipse">
            <a:avLst/>
          </a:prstGeom>
          <a:solidFill>
            <a:srgbClr val="22D3EE">
              <a:alpha val="45000"/>
            </a:srgbClr>
          </a:solidFill>
          <a:ln/>
        </p:spPr>
        <p:txBody>
          <a:bodyPr/>
          <a:lstStyle/>
          <a:p>
            <a:endParaRPr lang="en-GB"/>
          </a:p>
        </p:txBody>
      </p:sp>
      <p:sp>
        <p:nvSpPr>
          <p:cNvPr id="22" name="Shape 20"/>
          <p:cNvSpPr/>
          <p:nvPr/>
        </p:nvSpPr>
        <p:spPr>
          <a:xfrm>
            <a:off x="1371600" y="3931920"/>
            <a:ext cx="32004" cy="32004"/>
          </a:xfrm>
          <a:prstGeom prst="ellipse">
            <a:avLst/>
          </a:prstGeom>
          <a:solidFill>
            <a:srgbClr val="22D3EE">
              <a:alpha val="45000"/>
            </a:srgbClr>
          </a:solidFill>
          <a:ln/>
        </p:spPr>
        <p:txBody>
          <a:bodyPr/>
          <a:lstStyle/>
          <a:p>
            <a:endParaRPr lang="en-GB"/>
          </a:p>
        </p:txBody>
      </p:sp>
      <p:sp>
        <p:nvSpPr>
          <p:cNvPr id="23" name="Shape 21"/>
          <p:cNvSpPr/>
          <p:nvPr/>
        </p:nvSpPr>
        <p:spPr>
          <a:xfrm>
            <a:off x="1371600" y="4114800"/>
            <a:ext cx="32004" cy="32004"/>
          </a:xfrm>
          <a:prstGeom prst="ellipse">
            <a:avLst/>
          </a:prstGeom>
          <a:solidFill>
            <a:srgbClr val="22D3EE">
              <a:alpha val="45000"/>
            </a:srgbClr>
          </a:solidFill>
          <a:ln/>
        </p:spPr>
        <p:txBody>
          <a:bodyPr/>
          <a:lstStyle/>
          <a:p>
            <a:endParaRPr lang="en-GB"/>
          </a:p>
        </p:txBody>
      </p:sp>
      <p:sp>
        <p:nvSpPr>
          <p:cNvPr id="24" name="Shape 22"/>
          <p:cNvSpPr/>
          <p:nvPr/>
        </p:nvSpPr>
        <p:spPr>
          <a:xfrm>
            <a:off x="1371600" y="4297680"/>
            <a:ext cx="32004" cy="32004"/>
          </a:xfrm>
          <a:prstGeom prst="ellipse">
            <a:avLst/>
          </a:prstGeom>
          <a:solidFill>
            <a:srgbClr val="22D3EE">
              <a:alpha val="45000"/>
            </a:srgbClr>
          </a:solidFill>
          <a:ln/>
        </p:spPr>
        <p:txBody>
          <a:bodyPr/>
          <a:lstStyle/>
          <a:p>
            <a:endParaRPr lang="en-GB"/>
          </a:p>
        </p:txBody>
      </p:sp>
      <p:sp>
        <p:nvSpPr>
          <p:cNvPr id="25" name="Shape 23"/>
          <p:cNvSpPr/>
          <p:nvPr/>
        </p:nvSpPr>
        <p:spPr>
          <a:xfrm>
            <a:off x="1371600" y="4480560"/>
            <a:ext cx="32004" cy="32004"/>
          </a:xfrm>
          <a:prstGeom prst="ellipse">
            <a:avLst/>
          </a:prstGeom>
          <a:solidFill>
            <a:srgbClr val="22D3EE">
              <a:alpha val="45000"/>
            </a:srgbClr>
          </a:solidFill>
          <a:ln/>
        </p:spPr>
        <p:txBody>
          <a:bodyPr/>
          <a:lstStyle/>
          <a:p>
            <a:endParaRPr lang="en-GB"/>
          </a:p>
        </p:txBody>
      </p:sp>
      <p:sp>
        <p:nvSpPr>
          <p:cNvPr id="26" name="Shape 24"/>
          <p:cNvSpPr/>
          <p:nvPr/>
        </p:nvSpPr>
        <p:spPr>
          <a:xfrm>
            <a:off x="1554480" y="3931920"/>
            <a:ext cx="32004" cy="32004"/>
          </a:xfrm>
          <a:prstGeom prst="ellipse">
            <a:avLst/>
          </a:prstGeom>
          <a:solidFill>
            <a:srgbClr val="22D3EE">
              <a:alpha val="45000"/>
            </a:srgbClr>
          </a:solidFill>
          <a:ln/>
        </p:spPr>
        <p:txBody>
          <a:bodyPr/>
          <a:lstStyle/>
          <a:p>
            <a:endParaRPr lang="en-GB"/>
          </a:p>
        </p:txBody>
      </p:sp>
      <p:sp>
        <p:nvSpPr>
          <p:cNvPr id="27" name="Shape 25"/>
          <p:cNvSpPr/>
          <p:nvPr/>
        </p:nvSpPr>
        <p:spPr>
          <a:xfrm>
            <a:off x="1554480" y="4114800"/>
            <a:ext cx="32004" cy="32004"/>
          </a:xfrm>
          <a:prstGeom prst="ellipse">
            <a:avLst/>
          </a:prstGeom>
          <a:solidFill>
            <a:srgbClr val="22D3EE">
              <a:alpha val="45000"/>
            </a:srgbClr>
          </a:solidFill>
          <a:ln/>
        </p:spPr>
        <p:txBody>
          <a:bodyPr/>
          <a:lstStyle/>
          <a:p>
            <a:endParaRPr lang="en-GB"/>
          </a:p>
        </p:txBody>
      </p:sp>
      <p:sp>
        <p:nvSpPr>
          <p:cNvPr id="28" name="Shape 26"/>
          <p:cNvSpPr/>
          <p:nvPr/>
        </p:nvSpPr>
        <p:spPr>
          <a:xfrm>
            <a:off x="1554480" y="4297680"/>
            <a:ext cx="32004" cy="32004"/>
          </a:xfrm>
          <a:prstGeom prst="ellipse">
            <a:avLst/>
          </a:prstGeom>
          <a:solidFill>
            <a:srgbClr val="22D3EE">
              <a:alpha val="45000"/>
            </a:srgbClr>
          </a:solidFill>
          <a:ln/>
        </p:spPr>
        <p:txBody>
          <a:bodyPr/>
          <a:lstStyle/>
          <a:p>
            <a:endParaRPr lang="en-GB"/>
          </a:p>
        </p:txBody>
      </p:sp>
      <p:sp>
        <p:nvSpPr>
          <p:cNvPr id="29" name="Shape 27"/>
          <p:cNvSpPr/>
          <p:nvPr/>
        </p:nvSpPr>
        <p:spPr>
          <a:xfrm>
            <a:off x="1554480" y="4480560"/>
            <a:ext cx="32004" cy="32004"/>
          </a:xfrm>
          <a:prstGeom prst="ellipse">
            <a:avLst/>
          </a:prstGeom>
          <a:solidFill>
            <a:srgbClr val="22D3EE">
              <a:alpha val="45000"/>
            </a:srgbClr>
          </a:solidFill>
          <a:ln/>
        </p:spPr>
        <p:txBody>
          <a:bodyPr/>
          <a:lstStyle/>
          <a:p>
            <a:endParaRPr lang="en-GB"/>
          </a:p>
        </p:txBody>
      </p:sp>
      <p:sp>
        <p:nvSpPr>
          <p:cNvPr id="30" name="Shape 28"/>
          <p:cNvSpPr/>
          <p:nvPr/>
        </p:nvSpPr>
        <p:spPr>
          <a:xfrm>
            <a:off x="1737360" y="3931920"/>
            <a:ext cx="32004" cy="32004"/>
          </a:xfrm>
          <a:prstGeom prst="ellipse">
            <a:avLst/>
          </a:prstGeom>
          <a:solidFill>
            <a:srgbClr val="22D3EE">
              <a:alpha val="45000"/>
            </a:srgbClr>
          </a:solidFill>
          <a:ln/>
        </p:spPr>
        <p:txBody>
          <a:bodyPr/>
          <a:lstStyle/>
          <a:p>
            <a:endParaRPr lang="en-GB"/>
          </a:p>
        </p:txBody>
      </p:sp>
      <p:sp>
        <p:nvSpPr>
          <p:cNvPr id="31" name="Shape 29"/>
          <p:cNvSpPr/>
          <p:nvPr/>
        </p:nvSpPr>
        <p:spPr>
          <a:xfrm>
            <a:off x="1737360" y="4114800"/>
            <a:ext cx="32004" cy="32004"/>
          </a:xfrm>
          <a:prstGeom prst="ellipse">
            <a:avLst/>
          </a:prstGeom>
          <a:solidFill>
            <a:srgbClr val="22D3EE">
              <a:alpha val="45000"/>
            </a:srgbClr>
          </a:solidFill>
          <a:ln/>
        </p:spPr>
        <p:txBody>
          <a:bodyPr/>
          <a:lstStyle/>
          <a:p>
            <a:endParaRPr lang="en-GB"/>
          </a:p>
        </p:txBody>
      </p:sp>
      <p:sp>
        <p:nvSpPr>
          <p:cNvPr id="32" name="Shape 30"/>
          <p:cNvSpPr/>
          <p:nvPr/>
        </p:nvSpPr>
        <p:spPr>
          <a:xfrm>
            <a:off x="1737360" y="4297680"/>
            <a:ext cx="32004" cy="32004"/>
          </a:xfrm>
          <a:prstGeom prst="ellipse">
            <a:avLst/>
          </a:prstGeom>
          <a:solidFill>
            <a:srgbClr val="22D3EE">
              <a:alpha val="45000"/>
            </a:srgbClr>
          </a:solidFill>
          <a:ln/>
        </p:spPr>
        <p:txBody>
          <a:bodyPr/>
          <a:lstStyle/>
          <a:p>
            <a:endParaRPr lang="en-GB"/>
          </a:p>
        </p:txBody>
      </p:sp>
      <p:sp>
        <p:nvSpPr>
          <p:cNvPr id="33" name="Shape 31"/>
          <p:cNvSpPr/>
          <p:nvPr/>
        </p:nvSpPr>
        <p:spPr>
          <a:xfrm>
            <a:off x="1737360" y="4480560"/>
            <a:ext cx="32004" cy="32004"/>
          </a:xfrm>
          <a:prstGeom prst="ellipse">
            <a:avLst/>
          </a:prstGeom>
          <a:solidFill>
            <a:srgbClr val="22D3EE">
              <a:alpha val="45000"/>
            </a:srgbClr>
          </a:solidFill>
          <a:ln/>
        </p:spPr>
        <p:txBody>
          <a:bodyPr/>
          <a:lstStyle/>
          <a:p>
            <a:endParaRPr lang="en-GB"/>
          </a:p>
        </p:txBody>
      </p:sp>
      <p:sp>
        <p:nvSpPr>
          <p:cNvPr id="34" name="Shape 32"/>
          <p:cNvSpPr/>
          <p:nvPr/>
        </p:nvSpPr>
        <p:spPr>
          <a:xfrm>
            <a:off x="1920240" y="3931920"/>
            <a:ext cx="32004" cy="32004"/>
          </a:xfrm>
          <a:prstGeom prst="ellipse">
            <a:avLst/>
          </a:prstGeom>
          <a:solidFill>
            <a:srgbClr val="22D3EE">
              <a:alpha val="45000"/>
            </a:srgbClr>
          </a:solidFill>
          <a:ln/>
        </p:spPr>
        <p:txBody>
          <a:bodyPr/>
          <a:lstStyle/>
          <a:p>
            <a:endParaRPr lang="en-GB"/>
          </a:p>
        </p:txBody>
      </p:sp>
      <p:sp>
        <p:nvSpPr>
          <p:cNvPr id="35" name="Shape 33"/>
          <p:cNvSpPr/>
          <p:nvPr/>
        </p:nvSpPr>
        <p:spPr>
          <a:xfrm>
            <a:off x="1920240" y="4114800"/>
            <a:ext cx="32004" cy="32004"/>
          </a:xfrm>
          <a:prstGeom prst="ellipse">
            <a:avLst/>
          </a:prstGeom>
          <a:solidFill>
            <a:srgbClr val="22D3EE">
              <a:alpha val="45000"/>
            </a:srgbClr>
          </a:solidFill>
          <a:ln/>
        </p:spPr>
        <p:txBody>
          <a:bodyPr/>
          <a:lstStyle/>
          <a:p>
            <a:endParaRPr lang="en-GB"/>
          </a:p>
        </p:txBody>
      </p:sp>
      <p:sp>
        <p:nvSpPr>
          <p:cNvPr id="36" name="Shape 34"/>
          <p:cNvSpPr/>
          <p:nvPr/>
        </p:nvSpPr>
        <p:spPr>
          <a:xfrm>
            <a:off x="1920240" y="4297680"/>
            <a:ext cx="32004" cy="32004"/>
          </a:xfrm>
          <a:prstGeom prst="ellipse">
            <a:avLst/>
          </a:prstGeom>
          <a:solidFill>
            <a:srgbClr val="22D3EE">
              <a:alpha val="45000"/>
            </a:srgbClr>
          </a:solidFill>
          <a:ln/>
        </p:spPr>
        <p:txBody>
          <a:bodyPr/>
          <a:lstStyle/>
          <a:p>
            <a:endParaRPr lang="en-GB"/>
          </a:p>
        </p:txBody>
      </p:sp>
      <p:sp>
        <p:nvSpPr>
          <p:cNvPr id="37" name="Shape 35"/>
          <p:cNvSpPr/>
          <p:nvPr/>
        </p:nvSpPr>
        <p:spPr>
          <a:xfrm>
            <a:off x="1920240" y="4480560"/>
            <a:ext cx="32004" cy="32004"/>
          </a:xfrm>
          <a:prstGeom prst="ellipse">
            <a:avLst/>
          </a:prstGeom>
          <a:solidFill>
            <a:srgbClr val="22D3EE">
              <a:alpha val="45000"/>
            </a:srgbClr>
          </a:solidFill>
          <a:ln/>
        </p:spPr>
        <p:txBody>
          <a:bodyPr/>
          <a:lstStyle/>
          <a:p>
            <a:endParaRPr lang="en-GB"/>
          </a:p>
        </p:txBody>
      </p:sp>
      <p:sp>
        <p:nvSpPr>
          <p:cNvPr id="38" name="Shape 36"/>
          <p:cNvSpPr/>
          <p:nvPr/>
        </p:nvSpPr>
        <p:spPr>
          <a:xfrm>
            <a:off x="4023360" y="822960"/>
            <a:ext cx="1005840" cy="1005840"/>
          </a:xfrm>
          <a:prstGeom prst="ellipse">
            <a:avLst/>
          </a:prstGeom>
          <a:solidFill>
            <a:srgbClr val="152238"/>
          </a:solidFill>
          <a:ln/>
          <a:effectLst>
            <a:outerShdw blurRad="101600" dist="38100" dir="2700000" algn="bl" rotWithShape="0">
              <a:srgbClr val="000000">
                <a:alpha val="35000"/>
              </a:srgbClr>
            </a:outerShdw>
          </a:effectLst>
        </p:spPr>
        <p:txBody>
          <a:bodyPr/>
          <a:lstStyle/>
          <a:p>
            <a:endParaRPr lang="en-GB"/>
          </a:p>
        </p:txBody>
      </p:sp>
      <p:pic>
        <p:nvPicPr>
          <p:cNvPr id="39" name="Image 0" descr="preencoded.png"/>
          <p:cNvPicPr>
            <a:picLocks noChangeAspect="1"/>
          </p:cNvPicPr>
          <p:nvPr/>
        </p:nvPicPr>
        <p:blipFill>
          <a:blip r:embed="rId3"/>
          <a:stretch>
            <a:fillRect/>
          </a:stretch>
        </p:blipFill>
        <p:spPr>
          <a:xfrm>
            <a:off x="4274820" y="1074420"/>
            <a:ext cx="502920" cy="502920"/>
          </a:xfrm>
          <a:prstGeom prst="rect">
            <a:avLst/>
          </a:prstGeom>
        </p:spPr>
      </p:pic>
      <p:sp>
        <p:nvSpPr>
          <p:cNvPr id="40" name="Text 37"/>
          <p:cNvSpPr/>
          <p:nvPr/>
        </p:nvSpPr>
        <p:spPr>
          <a:xfrm>
            <a:off x="7200" y="1965960"/>
            <a:ext cx="9144000" cy="777240"/>
          </a:xfrm>
          <a:prstGeom prst="rect">
            <a:avLst/>
          </a:prstGeom>
          <a:noFill/>
          <a:ln/>
        </p:spPr>
        <p:txBody>
          <a:bodyPr wrap="square" lIns="0" tIns="0" rIns="0" bIns="0" rtlCol="0" anchor="ctr"/>
          <a:lstStyle/>
          <a:p>
            <a:pPr marL="0" indent="0" algn="ctr">
              <a:buNone/>
            </a:pPr>
            <a:r>
              <a:rPr lang="en-US" sz="4600" b="1" dirty="0">
                <a:solidFill>
                  <a:srgbClr val="F1F5F9"/>
                </a:solidFill>
                <a:latin typeface="Cambria" pitchFamily="34" charset="0"/>
                <a:ea typeface="Cambria" pitchFamily="34" charset="-122"/>
                <a:cs typeface="Cambria" pitchFamily="34" charset="-120"/>
              </a:rPr>
              <a:t>Thank You</a:t>
            </a:r>
            <a:endParaRPr lang="en-US" sz="4600" dirty="0"/>
          </a:p>
        </p:txBody>
      </p:sp>
      <p:sp>
        <p:nvSpPr>
          <p:cNvPr id="41" name="Text 38"/>
          <p:cNvSpPr/>
          <p:nvPr/>
        </p:nvSpPr>
        <p:spPr>
          <a:xfrm>
            <a:off x="0" y="2697480"/>
            <a:ext cx="9144000" cy="457200"/>
          </a:xfrm>
          <a:prstGeom prst="rect">
            <a:avLst/>
          </a:prstGeom>
          <a:noFill/>
          <a:ln/>
        </p:spPr>
        <p:txBody>
          <a:bodyPr wrap="square" lIns="0" tIns="0" rIns="0" bIns="0" rtlCol="0" anchor="ctr"/>
          <a:lstStyle/>
          <a:p>
            <a:pPr marL="0" indent="0" algn="ctr">
              <a:buNone/>
            </a:pPr>
            <a:r>
              <a:rPr lang="en-US" sz="1800" dirty="0">
                <a:solidFill>
                  <a:srgbClr val="22D3EE"/>
                </a:solidFill>
                <a:latin typeface="Calibri" pitchFamily="34" charset="0"/>
                <a:ea typeface="Calibri" pitchFamily="34" charset="-122"/>
                <a:cs typeface="Calibri" pitchFamily="34" charset="-120"/>
              </a:rPr>
              <a:t>Questions &amp; Answers</a:t>
            </a:r>
            <a:endParaRPr lang="en-US" sz="1800" dirty="0"/>
          </a:p>
        </p:txBody>
      </p:sp>
      <p:sp>
        <p:nvSpPr>
          <p:cNvPr id="42" name="Shape 39"/>
          <p:cNvSpPr/>
          <p:nvPr/>
        </p:nvSpPr>
        <p:spPr>
          <a:xfrm>
            <a:off x="3931920" y="3291840"/>
            <a:ext cx="1280160" cy="0"/>
          </a:xfrm>
          <a:prstGeom prst="line">
            <a:avLst/>
          </a:prstGeom>
          <a:noFill/>
          <a:ln w="15875">
            <a:solidFill>
              <a:srgbClr val="0891B2"/>
            </a:solidFill>
            <a:prstDash val="solid"/>
          </a:ln>
        </p:spPr>
        <p:txBody>
          <a:bodyPr/>
          <a:lstStyle/>
          <a:p>
            <a:endParaRPr lang="en-GB"/>
          </a:p>
        </p:txBody>
      </p:sp>
      <p:sp>
        <p:nvSpPr>
          <p:cNvPr id="43" name="Text 40"/>
          <p:cNvSpPr/>
          <p:nvPr/>
        </p:nvSpPr>
        <p:spPr>
          <a:xfrm>
            <a:off x="0" y="3429000"/>
            <a:ext cx="9144000" cy="320040"/>
          </a:xfrm>
          <a:prstGeom prst="rect">
            <a:avLst/>
          </a:prstGeom>
          <a:noFill/>
          <a:ln/>
        </p:spPr>
        <p:txBody>
          <a:bodyPr wrap="square" lIns="0" tIns="0" rIns="0" bIns="0" rtlCol="0" anchor="ctr"/>
          <a:lstStyle/>
          <a:p>
            <a:pPr marL="0" indent="0" algn="ctr">
              <a:buNone/>
            </a:pPr>
            <a:r>
              <a:rPr lang="en-US" sz="1200" dirty="0">
                <a:solidFill>
                  <a:srgbClr val="9CB0C9"/>
                </a:solidFill>
                <a:latin typeface="Calibri" pitchFamily="34" charset="0"/>
                <a:ea typeface="Calibri" pitchFamily="34" charset="-122"/>
                <a:cs typeface="Calibri" pitchFamily="34" charset="-120"/>
              </a:rPr>
              <a:t>DVWA — A Cybersecurity Project by the DEPI Team</a:t>
            </a:r>
            <a:endParaRPr lang="en-US" sz="1200" dirty="0"/>
          </a:p>
        </p:txBody>
      </p:sp>
      <p:sp>
        <p:nvSpPr>
          <p:cNvPr id="44" name="Text 41"/>
          <p:cNvSpPr/>
          <p:nvPr/>
        </p:nvSpPr>
        <p:spPr>
          <a:xfrm>
            <a:off x="0" y="4709160"/>
            <a:ext cx="9144000" cy="274320"/>
          </a:xfrm>
          <a:prstGeom prst="rect">
            <a:avLst/>
          </a:prstGeom>
          <a:noFill/>
          <a:ln/>
        </p:spPr>
        <p:txBody>
          <a:bodyPr wrap="square" lIns="0" tIns="0" rIns="0" bIns="0" rtlCol="0" anchor="ctr"/>
          <a:lstStyle/>
          <a:p>
            <a:pPr marL="0" indent="0" algn="ctr">
              <a:buNone/>
            </a:pPr>
            <a:r>
              <a:rPr lang="en-US" sz="1000" kern="0" spc="100" dirty="0">
                <a:solidFill>
                  <a:srgbClr val="5C7191"/>
                </a:solidFill>
                <a:latin typeface="Calibri" pitchFamily="34" charset="0"/>
                <a:ea typeface="Calibri" pitchFamily="34" charset="-122"/>
                <a:cs typeface="Calibri" pitchFamily="34" charset="-120"/>
              </a:rPr>
              <a:t>Digital Egypt Pioneers Initiative  •  Cybersecurity Incident Response Analyst Track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4740</Words>
  <Application>Microsoft Office PowerPoint</Application>
  <PresentationFormat>On-screen Show (16:9)</PresentationFormat>
  <Paragraphs>553</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DVWA - Damn Vulnerable Web Application</dc:title>
  <dc:subject>PptxGenJS Presentation</dc:subject>
  <dc:creator>DEPI Cybersecurity Team</dc:creator>
  <cp:lastModifiedBy>Ahmed Ehab</cp:lastModifiedBy>
  <cp:revision>3</cp:revision>
  <dcterms:created xsi:type="dcterms:W3CDTF">2026-07-02T03:39:35Z</dcterms:created>
  <dcterms:modified xsi:type="dcterms:W3CDTF">2026-07-02T14:10:44Z</dcterms:modified>
</cp:coreProperties>
</file>